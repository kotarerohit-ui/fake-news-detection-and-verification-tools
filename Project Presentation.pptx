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56" r:id="rId3"/>
    <p:sldId id="257" r:id="rId4"/>
    <p:sldId id="260" r:id="rId5"/>
    <p:sldId id="261" r:id="rId6"/>
    <p:sldId id="263" r:id="rId7"/>
    <p:sldId id="264" r:id="rId8"/>
    <p:sldId id="262" r:id="rId9"/>
    <p:sldId id="259" r:id="rId10"/>
    <p:sldId id="266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4C4434-A7F1-88FF-0141-6A3D7CB00589}" name="Rohit Kotare" initials="RK" userId="436b4f49c6349f0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BC9"/>
    <a:srgbClr val="5D1CB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41" autoAdjust="0"/>
  </p:normalViewPr>
  <p:slideViewPr>
    <p:cSldViewPr snapToGrid="0">
      <p:cViewPr>
        <p:scale>
          <a:sx n="75" d="100"/>
          <a:sy n="75" d="100"/>
        </p:scale>
        <p:origin x="744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471F8-C734-4A39-9BDF-0A56F4DF5B13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88FAA-12B1-4BDF-8005-43FFC6C0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9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9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6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4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1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9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0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FE148-076C-41DF-A18F-DC93428300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C7FB-7058-4CD5-B4A7-151670C2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D0E099-126C-AC68-068C-FC01C3E77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9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268017-816F-4A15-8A8A-9B3DCC986A7D}"/>
              </a:ext>
            </a:extLst>
          </p:cNvPr>
          <p:cNvCxnSpPr>
            <a:cxnSpLocks/>
          </p:cNvCxnSpPr>
          <p:nvPr/>
        </p:nvCxnSpPr>
        <p:spPr>
          <a:xfrm>
            <a:off x="6096000" y="258444"/>
            <a:ext cx="0" cy="583125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D60A07-8CAF-4306-8250-132A6689A67E}"/>
              </a:ext>
            </a:extLst>
          </p:cNvPr>
          <p:cNvGrpSpPr/>
          <p:nvPr/>
        </p:nvGrpSpPr>
        <p:grpSpPr>
          <a:xfrm>
            <a:off x="6010067" y="566467"/>
            <a:ext cx="171866" cy="171866"/>
            <a:chOff x="1666858" y="794921"/>
            <a:chExt cx="258298" cy="25829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2C15-491A-4C35-899C-00388CC6BF18}"/>
                </a:ext>
              </a:extLst>
            </p:cNvPr>
            <p:cNvSpPr/>
            <p:nvPr/>
          </p:nvSpPr>
          <p:spPr>
            <a:xfrm>
              <a:off x="1693333" y="821396"/>
              <a:ext cx="205349" cy="205349"/>
            </a:xfrm>
            <a:prstGeom prst="ellipse">
              <a:avLst/>
            </a:prstGeom>
            <a:solidFill>
              <a:srgbClr val="017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A8DE4A-2B51-49F8-8D30-B46FB55E2690}"/>
                </a:ext>
              </a:extLst>
            </p:cNvPr>
            <p:cNvSpPr/>
            <p:nvPr/>
          </p:nvSpPr>
          <p:spPr>
            <a:xfrm>
              <a:off x="1666858" y="794921"/>
              <a:ext cx="258298" cy="258298"/>
            </a:xfrm>
            <a:prstGeom prst="ellipse">
              <a:avLst/>
            </a:prstGeom>
            <a:noFill/>
            <a:ln>
              <a:solidFill>
                <a:srgbClr val="017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F678E9-6EB4-4A4C-8A99-0DAA98B5E095}"/>
              </a:ext>
            </a:extLst>
          </p:cNvPr>
          <p:cNvGrpSpPr/>
          <p:nvPr/>
        </p:nvGrpSpPr>
        <p:grpSpPr>
          <a:xfrm>
            <a:off x="6010067" y="1570025"/>
            <a:ext cx="171866" cy="171866"/>
            <a:chOff x="6010067" y="1824954"/>
            <a:chExt cx="171866" cy="17186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1DD571-4207-494B-BE9C-C0532BB1EE24}"/>
                </a:ext>
              </a:extLst>
            </p:cNvPr>
            <p:cNvSpPr/>
            <p:nvPr/>
          </p:nvSpPr>
          <p:spPr>
            <a:xfrm>
              <a:off x="6027683" y="1842570"/>
              <a:ext cx="136635" cy="136635"/>
            </a:xfrm>
            <a:prstGeom prst="ellipse">
              <a:avLst/>
            </a:prstGeom>
            <a:solidFill>
              <a:srgbClr val="909C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AFD8988-5EF9-48A5-AD52-81F64B12527A}"/>
                </a:ext>
              </a:extLst>
            </p:cNvPr>
            <p:cNvSpPr/>
            <p:nvPr/>
          </p:nvSpPr>
          <p:spPr>
            <a:xfrm>
              <a:off x="6010067" y="1824954"/>
              <a:ext cx="171866" cy="171866"/>
            </a:xfrm>
            <a:prstGeom prst="ellipse">
              <a:avLst/>
            </a:prstGeom>
            <a:noFill/>
            <a:ln>
              <a:solidFill>
                <a:srgbClr val="909C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06AA68-9EB1-4711-A93D-4F8F4D3CC722}"/>
              </a:ext>
            </a:extLst>
          </p:cNvPr>
          <p:cNvGrpSpPr/>
          <p:nvPr/>
        </p:nvGrpSpPr>
        <p:grpSpPr>
          <a:xfrm>
            <a:off x="6010067" y="2573583"/>
            <a:ext cx="171866" cy="171866"/>
            <a:chOff x="6010067" y="2828512"/>
            <a:chExt cx="171866" cy="17186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8D8B83-927E-4DB3-B65F-5F866011E37A}"/>
                </a:ext>
              </a:extLst>
            </p:cNvPr>
            <p:cNvSpPr/>
            <p:nvPr/>
          </p:nvSpPr>
          <p:spPr>
            <a:xfrm>
              <a:off x="6027683" y="2846128"/>
              <a:ext cx="136635" cy="136635"/>
            </a:xfrm>
            <a:prstGeom prst="ellipse">
              <a:avLst/>
            </a:prstGeom>
            <a:solidFill>
              <a:srgbClr val="FE2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503556-CE74-44DB-A0BD-5B8EC1AF3153}"/>
                </a:ext>
              </a:extLst>
            </p:cNvPr>
            <p:cNvSpPr/>
            <p:nvPr/>
          </p:nvSpPr>
          <p:spPr>
            <a:xfrm>
              <a:off x="6010067" y="2828512"/>
              <a:ext cx="171866" cy="171866"/>
            </a:xfrm>
            <a:prstGeom prst="ellipse">
              <a:avLst/>
            </a:prstGeom>
            <a:noFill/>
            <a:ln>
              <a:solidFill>
                <a:srgbClr val="FE24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FA4070-D3A8-427B-B145-2ECBA721C5E2}"/>
              </a:ext>
            </a:extLst>
          </p:cNvPr>
          <p:cNvGrpSpPr/>
          <p:nvPr/>
        </p:nvGrpSpPr>
        <p:grpSpPr>
          <a:xfrm>
            <a:off x="6010067" y="3577141"/>
            <a:ext cx="171866" cy="171866"/>
            <a:chOff x="6010067" y="3832070"/>
            <a:chExt cx="171866" cy="17186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79BE3C4-7F67-4204-A312-84C45ED4A0FA}"/>
                </a:ext>
              </a:extLst>
            </p:cNvPr>
            <p:cNvSpPr/>
            <p:nvPr/>
          </p:nvSpPr>
          <p:spPr>
            <a:xfrm>
              <a:off x="6027683" y="3849686"/>
              <a:ext cx="136635" cy="136635"/>
            </a:xfrm>
            <a:prstGeom prst="ellipse">
              <a:avLst/>
            </a:prstGeom>
            <a:solidFill>
              <a:srgbClr val="FE61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CE97DB-B14A-4942-A7F6-89BC69B17538}"/>
                </a:ext>
              </a:extLst>
            </p:cNvPr>
            <p:cNvSpPr/>
            <p:nvPr/>
          </p:nvSpPr>
          <p:spPr>
            <a:xfrm>
              <a:off x="6010067" y="3832070"/>
              <a:ext cx="171866" cy="171866"/>
            </a:xfrm>
            <a:prstGeom prst="ellipse">
              <a:avLst/>
            </a:prstGeom>
            <a:noFill/>
            <a:ln>
              <a:solidFill>
                <a:srgbClr val="FE61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B8D2BA-927A-49E2-8695-099D65D5EFD5}"/>
              </a:ext>
            </a:extLst>
          </p:cNvPr>
          <p:cNvGrpSpPr/>
          <p:nvPr/>
        </p:nvGrpSpPr>
        <p:grpSpPr>
          <a:xfrm>
            <a:off x="6010067" y="4580699"/>
            <a:ext cx="171866" cy="171866"/>
            <a:chOff x="6010067" y="4835628"/>
            <a:chExt cx="171866" cy="17186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7CA27D-EED4-4148-8D27-C37C78A9FD61}"/>
                </a:ext>
              </a:extLst>
            </p:cNvPr>
            <p:cNvSpPr/>
            <p:nvPr/>
          </p:nvSpPr>
          <p:spPr>
            <a:xfrm>
              <a:off x="6027683" y="4853244"/>
              <a:ext cx="136635" cy="136635"/>
            </a:xfrm>
            <a:prstGeom prst="ellipse">
              <a:avLst/>
            </a:prstGeom>
            <a:solidFill>
              <a:srgbClr val="FFCB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E859F02-5480-4505-BB33-456FCA2BF587}"/>
                </a:ext>
              </a:extLst>
            </p:cNvPr>
            <p:cNvSpPr/>
            <p:nvPr/>
          </p:nvSpPr>
          <p:spPr>
            <a:xfrm>
              <a:off x="6010067" y="4835628"/>
              <a:ext cx="171866" cy="171866"/>
            </a:xfrm>
            <a:prstGeom prst="ellipse">
              <a:avLst/>
            </a:prstGeom>
            <a:noFill/>
            <a:ln>
              <a:solidFill>
                <a:srgbClr val="FFCB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F1AE5B-B3F8-4E5C-9F3D-8BB5C9D71F83}"/>
              </a:ext>
            </a:extLst>
          </p:cNvPr>
          <p:cNvGrpSpPr/>
          <p:nvPr/>
        </p:nvGrpSpPr>
        <p:grpSpPr>
          <a:xfrm>
            <a:off x="6021441" y="5447753"/>
            <a:ext cx="171866" cy="171866"/>
            <a:chOff x="6010067" y="5839186"/>
            <a:chExt cx="171866" cy="17186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E154BD3-7F15-4EB8-AF1C-33617FE962B4}"/>
                </a:ext>
              </a:extLst>
            </p:cNvPr>
            <p:cNvSpPr/>
            <p:nvPr/>
          </p:nvSpPr>
          <p:spPr>
            <a:xfrm>
              <a:off x="6027683" y="5856802"/>
              <a:ext cx="136635" cy="136635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DDF5025-37FB-4309-BDC3-C18FE45F9F52}"/>
                </a:ext>
              </a:extLst>
            </p:cNvPr>
            <p:cNvSpPr/>
            <p:nvPr/>
          </p:nvSpPr>
          <p:spPr>
            <a:xfrm>
              <a:off x="6010067" y="5839186"/>
              <a:ext cx="171866" cy="171866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47521151-4BE7-479F-BE1D-E00326405239}"/>
              </a:ext>
            </a:extLst>
          </p:cNvPr>
          <p:cNvSpPr txBox="1"/>
          <p:nvPr/>
        </p:nvSpPr>
        <p:spPr>
          <a:xfrm>
            <a:off x="3606947" y="1688141"/>
            <a:ext cx="1786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HEADING HERE</a:t>
            </a:r>
            <a:endParaRPr lang="en-IN" sz="1600" b="1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D2CA71-13C5-4B25-9EAC-81E9A6F9F0E5}"/>
              </a:ext>
            </a:extLst>
          </p:cNvPr>
          <p:cNvGrpSpPr/>
          <p:nvPr/>
        </p:nvGrpSpPr>
        <p:grpSpPr>
          <a:xfrm>
            <a:off x="5959592" y="4649595"/>
            <a:ext cx="3016427" cy="1420024"/>
            <a:chOff x="5959592" y="4649595"/>
            <a:chExt cx="3016427" cy="14200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FFD43AE-0120-43FC-A0C8-C28D075A449E}"/>
                </a:ext>
              </a:extLst>
            </p:cNvPr>
            <p:cNvGrpSpPr/>
            <p:nvPr/>
          </p:nvGrpSpPr>
          <p:grpSpPr>
            <a:xfrm>
              <a:off x="5959592" y="4649595"/>
              <a:ext cx="3016427" cy="675272"/>
              <a:chOff x="5931017" y="894070"/>
              <a:chExt cx="3016427" cy="675272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566E0E-314E-4EC6-A2A9-E97DE6ACEE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1A5B8BF-1BBF-495D-96B5-4440E1F26532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FCB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D37EDD0-E65F-4C91-B753-C15E01909DB4}"/>
                </a:ext>
              </a:extLst>
            </p:cNvPr>
            <p:cNvSpPr txBox="1"/>
            <p:nvPr/>
          </p:nvSpPr>
          <p:spPr>
            <a:xfrm>
              <a:off x="6681086" y="4723640"/>
              <a:ext cx="21371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Use of Advanced Technologies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18BA2EE-595F-4894-9833-1A1341F1A739}"/>
                </a:ext>
              </a:extLst>
            </p:cNvPr>
            <p:cNvSpPr txBox="1"/>
            <p:nvPr/>
          </p:nvSpPr>
          <p:spPr>
            <a:xfrm>
              <a:off x="6770373" y="5130900"/>
              <a:ext cx="195861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The system leverages Natural Language Processing (NLP), deep learning models, and real-time fact-checking APIs to assess credibility.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40FC288-0CED-43F1-8036-498C2B5AD154}"/>
              </a:ext>
            </a:extLst>
          </p:cNvPr>
          <p:cNvGrpSpPr/>
          <p:nvPr/>
        </p:nvGrpSpPr>
        <p:grpSpPr>
          <a:xfrm>
            <a:off x="3195410" y="5474057"/>
            <a:ext cx="3016427" cy="1350823"/>
            <a:chOff x="3195410" y="5474057"/>
            <a:chExt cx="3016427" cy="135082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BC76FC2-E6B9-433D-92CF-27A65236C941}"/>
                </a:ext>
              </a:extLst>
            </p:cNvPr>
            <p:cNvGrpSpPr/>
            <p:nvPr/>
          </p:nvGrpSpPr>
          <p:grpSpPr>
            <a:xfrm flipH="1">
              <a:off x="3195410" y="5520750"/>
              <a:ext cx="3016427" cy="682945"/>
              <a:chOff x="5971049" y="750050"/>
              <a:chExt cx="3016427" cy="682945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C6B71C3-D02E-4654-9EC3-0D2E6C1C3081}"/>
                  </a:ext>
                </a:extLst>
              </p:cNvPr>
              <p:cNvSpPr/>
              <p:nvPr/>
            </p:nvSpPr>
            <p:spPr>
              <a:xfrm>
                <a:off x="5971049" y="757723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43C37C-B2BC-4B1E-946E-9D84C5657BB3}"/>
                  </a:ext>
                </a:extLst>
              </p:cNvPr>
              <p:cNvSpPr/>
              <p:nvPr/>
            </p:nvSpPr>
            <p:spPr>
              <a:xfrm>
                <a:off x="6181933" y="750050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F37A816-4214-468D-AEDB-8AAA2FCCCB93}"/>
                </a:ext>
              </a:extLst>
            </p:cNvPr>
            <p:cNvSpPr txBox="1"/>
            <p:nvPr/>
          </p:nvSpPr>
          <p:spPr>
            <a:xfrm>
              <a:off x="3526989" y="5474057"/>
              <a:ext cx="20089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Explainable and Verified Results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BA9E0AD-109A-483C-B1EB-1195FB1C31AB}"/>
                </a:ext>
              </a:extLst>
            </p:cNvPr>
            <p:cNvSpPr txBox="1"/>
            <p:nvPr/>
          </p:nvSpPr>
          <p:spPr>
            <a:xfrm>
              <a:off x="3495269" y="5886161"/>
              <a:ext cx="195861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The tool provides explainable outputs by highlighting doubtful claims and linking users to reliable, verified sources.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E55A5B-6DFF-4F52-A5F7-8D6C0DE9994C}"/>
              </a:ext>
            </a:extLst>
          </p:cNvPr>
          <p:cNvGrpSpPr/>
          <p:nvPr/>
        </p:nvGrpSpPr>
        <p:grpSpPr>
          <a:xfrm>
            <a:off x="3235442" y="1635266"/>
            <a:ext cx="3016427" cy="1243924"/>
            <a:chOff x="3235442" y="1635266"/>
            <a:chExt cx="3016427" cy="1243924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F59AD1B-072A-4FA3-BC15-4E71AD02BC4A}"/>
                </a:ext>
              </a:extLst>
            </p:cNvPr>
            <p:cNvGrpSpPr/>
            <p:nvPr/>
          </p:nvGrpSpPr>
          <p:grpSpPr>
            <a:xfrm flipH="1">
              <a:off x="3235442" y="1635266"/>
              <a:ext cx="3016427" cy="675272"/>
              <a:chOff x="5931017" y="894070"/>
              <a:chExt cx="3016427" cy="675272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F8FFEC0-C6C8-41DF-AE46-0F855E575E91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7CC0F03-3DC7-4AE7-9920-C2B832F00482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909C1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D94911E-3AD9-46AD-96DE-74F0D77DEDFF}"/>
                </a:ext>
              </a:extLst>
            </p:cNvPr>
            <p:cNvSpPr txBox="1"/>
            <p:nvPr/>
          </p:nvSpPr>
          <p:spPr>
            <a:xfrm>
              <a:off x="3520873" y="2109749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The spread of fake news poses serious risks to public trust, political stability, and public safety.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5B16F9-EEAD-4B12-9205-C8D9C2A5F0A6}"/>
              </a:ext>
            </a:extLst>
          </p:cNvPr>
          <p:cNvGrpSpPr/>
          <p:nvPr/>
        </p:nvGrpSpPr>
        <p:grpSpPr>
          <a:xfrm>
            <a:off x="5959592" y="2624654"/>
            <a:ext cx="3148546" cy="1219186"/>
            <a:chOff x="5959592" y="2624654"/>
            <a:chExt cx="3148546" cy="1219186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A8FEA-AA9D-4F70-8456-61B69933875E}"/>
                </a:ext>
              </a:extLst>
            </p:cNvPr>
            <p:cNvGrpSpPr/>
            <p:nvPr/>
          </p:nvGrpSpPr>
          <p:grpSpPr>
            <a:xfrm>
              <a:off x="5959592" y="2624654"/>
              <a:ext cx="3034040" cy="675272"/>
              <a:chOff x="5931017" y="894070"/>
              <a:chExt cx="3034040" cy="675272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CA3F383-1AC0-4565-B72D-B9E5054B0130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83593E6-4DBD-449B-83B1-BBC9C92B5D4E}"/>
                  </a:ext>
                </a:extLst>
              </p:cNvPr>
              <p:cNvSpPr/>
              <p:nvPr/>
            </p:nvSpPr>
            <p:spPr>
              <a:xfrm>
                <a:off x="6181932" y="907329"/>
                <a:ext cx="2783125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24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953B4CD-0D27-4D61-A8F4-AE6D5457BB04}"/>
                </a:ext>
              </a:extLst>
            </p:cNvPr>
            <p:cNvSpPr txBox="1"/>
            <p:nvPr/>
          </p:nvSpPr>
          <p:spPr>
            <a:xfrm>
              <a:off x="6424843" y="2699762"/>
              <a:ext cx="26832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Limitations of Manual Fact-Checking</a:t>
              </a:r>
              <a:endParaRPr lang="en-IN" sz="1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4E07B04-3C07-41FB-98C0-16639548BE41}"/>
                </a:ext>
              </a:extLst>
            </p:cNvPr>
            <p:cNvSpPr txBox="1"/>
            <p:nvPr/>
          </p:nvSpPr>
          <p:spPr>
            <a:xfrm>
              <a:off x="6770373" y="3074399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Manual fact-checking methods are slow, resource-intensive, and ineffective for real-time verification.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31985D9-804C-423C-A246-DBC2412425C2}"/>
              </a:ext>
            </a:extLst>
          </p:cNvPr>
          <p:cNvGrpSpPr/>
          <p:nvPr/>
        </p:nvGrpSpPr>
        <p:grpSpPr>
          <a:xfrm>
            <a:off x="5959592" y="620091"/>
            <a:ext cx="3016427" cy="1240171"/>
            <a:chOff x="5959592" y="620091"/>
            <a:chExt cx="3016427" cy="124017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F0379-D1AB-490C-BD8B-9D0A8BCFF62C}"/>
                </a:ext>
              </a:extLst>
            </p:cNvPr>
            <p:cNvGrpSpPr/>
            <p:nvPr/>
          </p:nvGrpSpPr>
          <p:grpSpPr>
            <a:xfrm>
              <a:off x="5959592" y="620091"/>
              <a:ext cx="3016427" cy="675272"/>
              <a:chOff x="5931017" y="894070"/>
              <a:chExt cx="3016427" cy="675272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23BDA89-CEA8-4D10-944F-709202ED335A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6FD6A1-B862-49DE-A73D-CBED160B751C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017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858574-181D-4FD3-A6B2-F20517EB26DD}"/>
                </a:ext>
              </a:extLst>
            </p:cNvPr>
            <p:cNvSpPr txBox="1"/>
            <p:nvPr/>
          </p:nvSpPr>
          <p:spPr>
            <a:xfrm>
              <a:off x="6625733" y="701242"/>
              <a:ext cx="22478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Rapid Spread of Misinformation</a:t>
              </a:r>
              <a:endParaRPr lang="en-IN" sz="1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B0DC05-2175-48F9-B57B-32C96D897DA2}"/>
                </a:ext>
              </a:extLst>
            </p:cNvPr>
            <p:cNvSpPr txBox="1"/>
            <p:nvPr/>
          </p:nvSpPr>
          <p:spPr>
            <a:xfrm>
              <a:off x="6770373" y="1090821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In today’s digital world, misinformation spreads rapidly through news articles and social media platforms.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5AD0DD0-1C04-455F-8E8C-4353F500D013}"/>
              </a:ext>
            </a:extLst>
          </p:cNvPr>
          <p:cNvGrpSpPr/>
          <p:nvPr/>
        </p:nvGrpSpPr>
        <p:grpSpPr>
          <a:xfrm>
            <a:off x="3235442" y="3639829"/>
            <a:ext cx="3016427" cy="1225144"/>
            <a:chOff x="3235442" y="3639829"/>
            <a:chExt cx="3016427" cy="122514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FA71216-431C-4B82-AE7A-C2089C490DCE}"/>
                </a:ext>
              </a:extLst>
            </p:cNvPr>
            <p:cNvGrpSpPr/>
            <p:nvPr/>
          </p:nvGrpSpPr>
          <p:grpSpPr>
            <a:xfrm flipH="1">
              <a:off x="3235442" y="3639829"/>
              <a:ext cx="3016427" cy="675272"/>
              <a:chOff x="5931017" y="894070"/>
              <a:chExt cx="3016427" cy="675272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18AE7A6-7187-4E66-9C6A-DBE0CAA94EBC}"/>
                  </a:ext>
                </a:extLst>
              </p:cNvPr>
              <p:cNvSpPr/>
              <p:nvPr/>
            </p:nvSpPr>
            <p:spPr>
              <a:xfrm>
                <a:off x="5931017" y="894070"/>
                <a:ext cx="3016427" cy="675272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  <a:gd name="connsiteX0" fmla="*/ 0 w 2683296"/>
                  <a:gd name="connsiteY0" fmla="*/ 0 h 411364"/>
                  <a:gd name="connsiteX1" fmla="*/ 498898 w 2683296"/>
                  <a:gd name="connsiteY1" fmla="*/ 0 h 411364"/>
                  <a:gd name="connsiteX2" fmla="*/ 499530 w 2683296"/>
                  <a:gd name="connsiteY2" fmla="*/ 0 h 411364"/>
                  <a:gd name="connsiteX3" fmla="*/ 2683296 w 2683296"/>
                  <a:gd name="connsiteY3" fmla="*/ 0 h 411364"/>
                  <a:gd name="connsiteX4" fmla="*/ 2683296 w 2683296"/>
                  <a:gd name="connsiteY4" fmla="*/ 406400 h 411364"/>
                  <a:gd name="connsiteX5" fmla="*/ 1501871 w 2683296"/>
                  <a:gd name="connsiteY5" fmla="*/ 411364 h 411364"/>
                  <a:gd name="connsiteX6" fmla="*/ 498898 w 2683296"/>
                  <a:gd name="connsiteY6" fmla="*/ 406400 h 411364"/>
                  <a:gd name="connsiteX7" fmla="*/ 498898 w 2683296"/>
                  <a:gd name="connsiteY7" fmla="*/ 320062 h 411364"/>
                  <a:gd name="connsiteX8" fmla="*/ 0 w 2683296"/>
                  <a:gd name="connsiteY8" fmla="*/ 0 h 411364"/>
                  <a:gd name="connsiteX0" fmla="*/ 0 w 2683296"/>
                  <a:gd name="connsiteY0" fmla="*/ 0 h 602870"/>
                  <a:gd name="connsiteX1" fmla="*/ 498898 w 2683296"/>
                  <a:gd name="connsiteY1" fmla="*/ 0 h 602870"/>
                  <a:gd name="connsiteX2" fmla="*/ 499530 w 2683296"/>
                  <a:gd name="connsiteY2" fmla="*/ 0 h 602870"/>
                  <a:gd name="connsiteX3" fmla="*/ 2683296 w 2683296"/>
                  <a:gd name="connsiteY3" fmla="*/ 0 h 602870"/>
                  <a:gd name="connsiteX4" fmla="*/ 2683296 w 2683296"/>
                  <a:gd name="connsiteY4" fmla="*/ 406400 h 602870"/>
                  <a:gd name="connsiteX5" fmla="*/ 1501871 w 2683296"/>
                  <a:gd name="connsiteY5" fmla="*/ 411364 h 602870"/>
                  <a:gd name="connsiteX6" fmla="*/ 498898 w 2683296"/>
                  <a:gd name="connsiteY6" fmla="*/ 602870 h 602870"/>
                  <a:gd name="connsiteX7" fmla="*/ 498898 w 2683296"/>
                  <a:gd name="connsiteY7" fmla="*/ 320062 h 602870"/>
                  <a:gd name="connsiteX8" fmla="*/ 0 w 2683296"/>
                  <a:gd name="connsiteY8" fmla="*/ 0 h 602870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20062 h 609209"/>
                  <a:gd name="connsiteX8" fmla="*/ 0 w 2689634"/>
                  <a:gd name="connsiteY8" fmla="*/ 0 h 609209"/>
                  <a:gd name="connsiteX0" fmla="*/ 0 w 2689634"/>
                  <a:gd name="connsiteY0" fmla="*/ 0 h 609209"/>
                  <a:gd name="connsiteX1" fmla="*/ 498898 w 2689634"/>
                  <a:gd name="connsiteY1" fmla="*/ 0 h 609209"/>
                  <a:gd name="connsiteX2" fmla="*/ 499530 w 2689634"/>
                  <a:gd name="connsiteY2" fmla="*/ 0 h 609209"/>
                  <a:gd name="connsiteX3" fmla="*/ 2683296 w 2689634"/>
                  <a:gd name="connsiteY3" fmla="*/ 0 h 609209"/>
                  <a:gd name="connsiteX4" fmla="*/ 2689634 w 2689634"/>
                  <a:gd name="connsiteY4" fmla="*/ 609209 h 609209"/>
                  <a:gd name="connsiteX5" fmla="*/ 1501871 w 2689634"/>
                  <a:gd name="connsiteY5" fmla="*/ 411364 h 609209"/>
                  <a:gd name="connsiteX6" fmla="*/ 498898 w 2689634"/>
                  <a:gd name="connsiteY6" fmla="*/ 602870 h 609209"/>
                  <a:gd name="connsiteX7" fmla="*/ 498898 w 2689634"/>
                  <a:gd name="connsiteY7" fmla="*/ 389777 h 609209"/>
                  <a:gd name="connsiteX8" fmla="*/ 0 w 2689634"/>
                  <a:gd name="connsiteY8" fmla="*/ 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12205 w 2702309"/>
                  <a:gd name="connsiteY2" fmla="*/ 0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11573 w 2702309"/>
                  <a:gd name="connsiteY1" fmla="*/ 0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02309"/>
                  <a:gd name="connsiteY0" fmla="*/ 114080 h 609209"/>
                  <a:gd name="connsiteX1" fmla="*/ 524248 w 2702309"/>
                  <a:gd name="connsiteY1" fmla="*/ 38027 h 609209"/>
                  <a:gd name="connsiteX2" fmla="*/ 505867 w 2702309"/>
                  <a:gd name="connsiteY2" fmla="*/ 31689 h 609209"/>
                  <a:gd name="connsiteX3" fmla="*/ 2695971 w 2702309"/>
                  <a:gd name="connsiteY3" fmla="*/ 0 h 609209"/>
                  <a:gd name="connsiteX4" fmla="*/ 2702309 w 2702309"/>
                  <a:gd name="connsiteY4" fmla="*/ 609209 h 609209"/>
                  <a:gd name="connsiteX5" fmla="*/ 1514546 w 2702309"/>
                  <a:gd name="connsiteY5" fmla="*/ 411364 h 609209"/>
                  <a:gd name="connsiteX6" fmla="*/ 511573 w 2702309"/>
                  <a:gd name="connsiteY6" fmla="*/ 602870 h 609209"/>
                  <a:gd name="connsiteX7" fmla="*/ 511573 w 2702309"/>
                  <a:gd name="connsiteY7" fmla="*/ 389777 h 609209"/>
                  <a:gd name="connsiteX8" fmla="*/ 0 w 2702309"/>
                  <a:gd name="connsiteY8" fmla="*/ 114080 h 609209"/>
                  <a:gd name="connsiteX0" fmla="*/ 0 w 2721323"/>
                  <a:gd name="connsiteY0" fmla="*/ 164782 h 609209"/>
                  <a:gd name="connsiteX1" fmla="*/ 543262 w 2721323"/>
                  <a:gd name="connsiteY1" fmla="*/ 38027 h 609209"/>
                  <a:gd name="connsiteX2" fmla="*/ 524881 w 2721323"/>
                  <a:gd name="connsiteY2" fmla="*/ 31689 h 609209"/>
                  <a:gd name="connsiteX3" fmla="*/ 2714985 w 2721323"/>
                  <a:gd name="connsiteY3" fmla="*/ 0 h 609209"/>
                  <a:gd name="connsiteX4" fmla="*/ 2721323 w 2721323"/>
                  <a:gd name="connsiteY4" fmla="*/ 609209 h 609209"/>
                  <a:gd name="connsiteX5" fmla="*/ 1533560 w 2721323"/>
                  <a:gd name="connsiteY5" fmla="*/ 411364 h 609209"/>
                  <a:gd name="connsiteX6" fmla="*/ 530587 w 2721323"/>
                  <a:gd name="connsiteY6" fmla="*/ 602870 h 609209"/>
                  <a:gd name="connsiteX7" fmla="*/ 530587 w 2721323"/>
                  <a:gd name="connsiteY7" fmla="*/ 389777 h 609209"/>
                  <a:gd name="connsiteX8" fmla="*/ 0 w 2721323"/>
                  <a:gd name="connsiteY8" fmla="*/ 164782 h 60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1323" h="609209">
                    <a:moveTo>
                      <a:pt x="0" y="164782"/>
                    </a:moveTo>
                    <a:lnTo>
                      <a:pt x="543262" y="38027"/>
                    </a:lnTo>
                    <a:lnTo>
                      <a:pt x="524881" y="31689"/>
                    </a:lnTo>
                    <a:lnTo>
                      <a:pt x="2714985" y="0"/>
                    </a:lnTo>
                    <a:cubicBezTo>
                      <a:pt x="2717098" y="203070"/>
                      <a:pt x="2719210" y="406139"/>
                      <a:pt x="2721323" y="609209"/>
                    </a:cubicBezTo>
                    <a:lnTo>
                      <a:pt x="1533560" y="411364"/>
                    </a:lnTo>
                    <a:lnTo>
                      <a:pt x="530587" y="602870"/>
                    </a:lnTo>
                    <a:lnTo>
                      <a:pt x="530587" y="389777"/>
                    </a:lnTo>
                    <a:lnTo>
                      <a:pt x="0" y="16478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48000"/>
                </a:schemeClr>
              </a:solidFill>
              <a:ln>
                <a:noFill/>
              </a:ln>
              <a:effectLst>
                <a:softEdge rad="889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634DA7B-126F-4E68-962D-021BE75BAB21}"/>
                  </a:ext>
                </a:extLst>
              </p:cNvPr>
              <p:cNvSpPr/>
              <p:nvPr/>
            </p:nvSpPr>
            <p:spPr>
              <a:xfrm>
                <a:off x="6181933" y="907329"/>
                <a:ext cx="2683296" cy="406400"/>
              </a:xfrm>
              <a:custGeom>
                <a:avLst/>
                <a:gdLst>
                  <a:gd name="connsiteX0" fmla="*/ 0 w 2683296"/>
                  <a:gd name="connsiteY0" fmla="*/ 0 h 406400"/>
                  <a:gd name="connsiteX1" fmla="*/ 498898 w 2683296"/>
                  <a:gd name="connsiteY1" fmla="*/ 0 h 406400"/>
                  <a:gd name="connsiteX2" fmla="*/ 499530 w 2683296"/>
                  <a:gd name="connsiteY2" fmla="*/ 0 h 406400"/>
                  <a:gd name="connsiteX3" fmla="*/ 2683296 w 2683296"/>
                  <a:gd name="connsiteY3" fmla="*/ 0 h 406400"/>
                  <a:gd name="connsiteX4" fmla="*/ 2683296 w 2683296"/>
                  <a:gd name="connsiteY4" fmla="*/ 406400 h 406400"/>
                  <a:gd name="connsiteX5" fmla="*/ 498898 w 2683296"/>
                  <a:gd name="connsiteY5" fmla="*/ 406400 h 406400"/>
                  <a:gd name="connsiteX6" fmla="*/ 498898 w 2683296"/>
                  <a:gd name="connsiteY6" fmla="*/ 320062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83296" h="406400">
                    <a:moveTo>
                      <a:pt x="0" y="0"/>
                    </a:moveTo>
                    <a:lnTo>
                      <a:pt x="498898" y="0"/>
                    </a:lnTo>
                    <a:lnTo>
                      <a:pt x="499530" y="0"/>
                    </a:lnTo>
                    <a:lnTo>
                      <a:pt x="2683296" y="0"/>
                    </a:lnTo>
                    <a:lnTo>
                      <a:pt x="2683296" y="406400"/>
                    </a:lnTo>
                    <a:lnTo>
                      <a:pt x="498898" y="406400"/>
                    </a:lnTo>
                    <a:lnTo>
                      <a:pt x="498898" y="320062"/>
                    </a:lnTo>
                    <a:close/>
                  </a:path>
                </a:pathLst>
              </a:custGeom>
              <a:solidFill>
                <a:srgbClr val="FE61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D5C29C1-0D94-4755-A6D6-914FE19CDC84}"/>
                </a:ext>
              </a:extLst>
            </p:cNvPr>
            <p:cNvSpPr txBox="1"/>
            <p:nvPr/>
          </p:nvSpPr>
          <p:spPr>
            <a:xfrm>
              <a:off x="3435223" y="3717117"/>
              <a:ext cx="21737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Purpose of the Detection Tool</a:t>
              </a:r>
              <a:endParaRPr lang="en-IN" sz="1200" b="1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6E009FE-2E24-49C0-AED0-A4B55055C5CB}"/>
                </a:ext>
              </a:extLst>
            </p:cNvPr>
            <p:cNvSpPr txBox="1"/>
            <p:nvPr/>
          </p:nvSpPr>
          <p:spPr>
            <a:xfrm>
              <a:off x="3520873" y="4095532"/>
              <a:ext cx="19586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The Fake News Detection &amp; Verification Tool is designed to automatically identify and analyze suspicious content.</a:t>
              </a:r>
              <a:endPara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1820300-957B-4EAC-950D-083E03A1AA1E}"/>
              </a:ext>
            </a:extLst>
          </p:cNvPr>
          <p:cNvSpPr txBox="1"/>
          <p:nvPr/>
        </p:nvSpPr>
        <p:spPr>
          <a:xfrm>
            <a:off x="280202" y="417841"/>
            <a:ext cx="3240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Project Statements</a:t>
            </a:r>
            <a:endParaRPr lang="en-IN" sz="2800" b="1" dirty="0">
              <a:solidFill>
                <a:srgbClr val="C0000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78E0E-F7F7-F964-3EC5-21F4948E7EE6}"/>
              </a:ext>
            </a:extLst>
          </p:cNvPr>
          <p:cNvSpPr txBox="1"/>
          <p:nvPr/>
        </p:nvSpPr>
        <p:spPr>
          <a:xfrm>
            <a:off x="3435223" y="1640726"/>
            <a:ext cx="2327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Impact on Society</a:t>
            </a:r>
          </a:p>
        </p:txBody>
      </p:sp>
    </p:spTree>
    <p:extLst>
      <p:ext uri="{BB962C8B-B14F-4D97-AF65-F5344CB8AC3E}">
        <p14:creationId xmlns:p14="http://schemas.microsoft.com/office/powerpoint/2010/main" val="245860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F366F0-A5E9-4EDE-B1CB-F7115DED7207}"/>
              </a:ext>
            </a:extLst>
          </p:cNvPr>
          <p:cNvCxnSpPr/>
          <p:nvPr/>
        </p:nvCxnSpPr>
        <p:spPr>
          <a:xfrm flipV="1">
            <a:off x="3352800" y="114638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9F1C6A5-2A6B-4AF7-9A72-D13F3EA231C1}"/>
              </a:ext>
            </a:extLst>
          </p:cNvPr>
          <p:cNvCxnSpPr>
            <a:cxnSpLocks/>
          </p:cNvCxnSpPr>
          <p:nvPr/>
        </p:nvCxnSpPr>
        <p:spPr>
          <a:xfrm rot="1500000" flipV="1">
            <a:off x="3794655" y="150073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95B9AF-86E0-47B9-BFC0-B30BF700F13D}"/>
              </a:ext>
            </a:extLst>
          </p:cNvPr>
          <p:cNvCxnSpPr>
            <a:cxnSpLocks/>
          </p:cNvCxnSpPr>
          <p:nvPr/>
        </p:nvCxnSpPr>
        <p:spPr>
          <a:xfrm rot="3000000" flipV="1">
            <a:off x="4079905" y="1986459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4FCD74-D5FF-4633-96B8-977E2FD79C0C}"/>
              </a:ext>
            </a:extLst>
          </p:cNvPr>
          <p:cNvCxnSpPr>
            <a:cxnSpLocks/>
          </p:cNvCxnSpPr>
          <p:nvPr/>
        </p:nvCxnSpPr>
        <p:spPr>
          <a:xfrm rot="4500000" flipV="1">
            <a:off x="4008967" y="2563107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B8166C-8AB1-446E-9535-B7BE4A21D392}"/>
              </a:ext>
            </a:extLst>
          </p:cNvPr>
          <p:cNvCxnSpPr>
            <a:cxnSpLocks/>
          </p:cNvCxnSpPr>
          <p:nvPr/>
        </p:nvCxnSpPr>
        <p:spPr>
          <a:xfrm rot="6000000" flipV="1">
            <a:off x="3762059" y="3064503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1271C1-66B9-4E71-B75B-7E551BF724C9}"/>
              </a:ext>
            </a:extLst>
          </p:cNvPr>
          <p:cNvCxnSpPr>
            <a:cxnSpLocks/>
          </p:cNvCxnSpPr>
          <p:nvPr/>
        </p:nvCxnSpPr>
        <p:spPr>
          <a:xfrm rot="7500000" flipV="1">
            <a:off x="3361802" y="3438835"/>
            <a:ext cx="1181100" cy="228261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761C896-8C21-4ED1-BB97-9CE7B8F7807A}"/>
              </a:ext>
            </a:extLst>
          </p:cNvPr>
          <p:cNvSpPr/>
          <p:nvPr/>
        </p:nvSpPr>
        <p:spPr>
          <a:xfrm>
            <a:off x="1734355" y="1810555"/>
            <a:ext cx="3236890" cy="32368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rtial Circle 36">
            <a:extLst>
              <a:ext uri="{FF2B5EF4-FFF2-40B4-BE49-F238E27FC236}">
                <a16:creationId xmlns:a16="http://schemas.microsoft.com/office/drawing/2014/main" id="{9CAE3C71-FD49-41D5-B6EA-CBAD23D6965C}"/>
              </a:ext>
            </a:extLst>
          </p:cNvPr>
          <p:cNvSpPr/>
          <p:nvPr/>
        </p:nvSpPr>
        <p:spPr>
          <a:xfrm rot="19555283">
            <a:off x="1744552" y="1813910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BD2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Partial Circle 37">
            <a:extLst>
              <a:ext uri="{FF2B5EF4-FFF2-40B4-BE49-F238E27FC236}">
                <a16:creationId xmlns:a16="http://schemas.microsoft.com/office/drawing/2014/main" id="{E295E4FA-BAC9-4F12-A985-C42949E2D293}"/>
              </a:ext>
            </a:extLst>
          </p:cNvPr>
          <p:cNvSpPr/>
          <p:nvPr/>
        </p:nvSpPr>
        <p:spPr>
          <a:xfrm rot="18043804">
            <a:off x="1744552" y="1813908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E7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Partial Circle 38">
            <a:extLst>
              <a:ext uri="{FF2B5EF4-FFF2-40B4-BE49-F238E27FC236}">
                <a16:creationId xmlns:a16="http://schemas.microsoft.com/office/drawing/2014/main" id="{37303FED-7F4E-4FF8-A128-0E9253D9BD70}"/>
              </a:ext>
            </a:extLst>
          </p:cNvPr>
          <p:cNvSpPr/>
          <p:nvPr/>
        </p:nvSpPr>
        <p:spPr>
          <a:xfrm rot="16545779">
            <a:off x="1742582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FE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Partial Circle 39">
            <a:extLst>
              <a:ext uri="{FF2B5EF4-FFF2-40B4-BE49-F238E27FC236}">
                <a16:creationId xmlns:a16="http://schemas.microsoft.com/office/drawing/2014/main" id="{42CEEFF0-FB42-4455-9D72-95B33BE199ED}"/>
              </a:ext>
            </a:extLst>
          </p:cNvPr>
          <p:cNvSpPr/>
          <p:nvPr/>
        </p:nvSpPr>
        <p:spPr>
          <a:xfrm rot="21045553">
            <a:off x="1744553" y="1813914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5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Partial Circle 40">
            <a:extLst>
              <a:ext uri="{FF2B5EF4-FFF2-40B4-BE49-F238E27FC236}">
                <a16:creationId xmlns:a16="http://schemas.microsoft.com/office/drawing/2014/main" id="{B3F14FA2-C024-46F5-9D40-8746FB62EA3E}"/>
              </a:ext>
            </a:extLst>
          </p:cNvPr>
          <p:cNvSpPr/>
          <p:nvPr/>
        </p:nvSpPr>
        <p:spPr>
          <a:xfrm rot="984140">
            <a:off x="1744555" y="180466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00A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Partial Circle 41">
            <a:extLst>
              <a:ext uri="{FF2B5EF4-FFF2-40B4-BE49-F238E27FC236}">
                <a16:creationId xmlns:a16="http://schemas.microsoft.com/office/drawing/2014/main" id="{B05F4231-267C-4E8C-A052-DF77E9934B37}"/>
              </a:ext>
            </a:extLst>
          </p:cNvPr>
          <p:cNvSpPr/>
          <p:nvPr/>
        </p:nvSpPr>
        <p:spPr>
          <a:xfrm rot="2487498">
            <a:off x="1750411" y="1811012"/>
            <a:ext cx="3230172" cy="3230172"/>
          </a:xfrm>
          <a:prstGeom prst="pie">
            <a:avLst>
              <a:gd name="adj1" fmla="val 533039"/>
              <a:gd name="adj2" fmla="val 2039325"/>
            </a:avLst>
          </a:prstGeom>
          <a:solidFill>
            <a:srgbClr val="74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C25BC93-0BD9-4D91-B885-6FAEF5AC44B5}"/>
              </a:ext>
            </a:extLst>
          </p:cNvPr>
          <p:cNvSpPr/>
          <p:nvPr/>
        </p:nvSpPr>
        <p:spPr>
          <a:xfrm>
            <a:off x="2349500" y="2425700"/>
            <a:ext cx="2006600" cy="20066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190500"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5546733-B29D-4688-A34F-49A40200489B}"/>
              </a:ext>
            </a:extLst>
          </p:cNvPr>
          <p:cNvSpPr/>
          <p:nvPr/>
        </p:nvSpPr>
        <p:spPr>
          <a:xfrm>
            <a:off x="2578100" y="2654300"/>
            <a:ext cx="1549400" cy="154940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A3A2AF-9A67-471F-8C92-3A7E9F9A5608}"/>
              </a:ext>
            </a:extLst>
          </p:cNvPr>
          <p:cNvSpPr txBox="1"/>
          <p:nvPr/>
        </p:nvSpPr>
        <p:spPr>
          <a:xfrm>
            <a:off x="2462145" y="2946854"/>
            <a:ext cx="1842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System Outcomes</a:t>
            </a:r>
            <a:endParaRPr lang="en-US" sz="2800" b="1" spc="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101600" dist="63500" dir="2700000" algn="tl" rotWithShape="0">
                  <a:prstClr val="black">
                    <a:alpha val="41000"/>
                  </a:prstClr>
                </a:outerShdw>
              </a:effectLst>
              <a:latin typeface="Bebas Neue Bold" panose="020B0606020202050201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70A81C-A1D8-4831-A8D7-B4C2845337B1}"/>
              </a:ext>
            </a:extLst>
          </p:cNvPr>
          <p:cNvGrpSpPr/>
          <p:nvPr/>
        </p:nvGrpSpPr>
        <p:grpSpPr>
          <a:xfrm>
            <a:off x="4626067" y="467036"/>
            <a:ext cx="3153937" cy="801638"/>
            <a:chOff x="4626067" y="467036"/>
            <a:chExt cx="3153937" cy="80163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6F9C562-F044-4D2C-8442-795242DE5529}"/>
                </a:ext>
              </a:extLst>
            </p:cNvPr>
            <p:cNvSpPr/>
            <p:nvPr/>
          </p:nvSpPr>
          <p:spPr>
            <a:xfrm>
              <a:off x="4626067" y="467036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ED41C"/>
                </a:gs>
                <a:gs pos="97000">
                  <a:srgbClr val="DE9F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AD646A2-136F-4859-9097-5F282A5C4117}"/>
                </a:ext>
              </a:extLst>
            </p:cNvPr>
            <p:cNvSpPr/>
            <p:nvPr/>
          </p:nvSpPr>
          <p:spPr>
            <a:xfrm>
              <a:off x="4678431" y="514283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67FB0C9-3128-4E36-8282-B7D855615DC8}"/>
                </a:ext>
              </a:extLst>
            </p:cNvPr>
            <p:cNvSpPr txBox="1"/>
            <p:nvPr/>
          </p:nvSpPr>
          <p:spPr>
            <a:xfrm>
              <a:off x="4803306" y="621360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A033045-85FB-43F5-8F84-49327A5304EA}"/>
                </a:ext>
              </a:extLst>
            </p:cNvPr>
            <p:cNvSpPr txBox="1"/>
            <p:nvPr/>
          </p:nvSpPr>
          <p:spPr>
            <a:xfrm>
              <a:off x="5122414" y="530010"/>
              <a:ext cx="265759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Automated detection with a credibility probability score ranging from 0 to 1.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BBEF79-8159-47EB-B862-A37054C4C3A3}"/>
              </a:ext>
            </a:extLst>
          </p:cNvPr>
          <p:cNvGrpSpPr/>
          <p:nvPr/>
        </p:nvGrpSpPr>
        <p:grpSpPr>
          <a:xfrm>
            <a:off x="4626067" y="5712983"/>
            <a:ext cx="2872094" cy="780295"/>
            <a:chOff x="4626067" y="5712983"/>
            <a:chExt cx="2872094" cy="780295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0399633-F1D0-4FA4-BEC8-8A09A2347B65}"/>
                </a:ext>
              </a:extLst>
            </p:cNvPr>
            <p:cNvSpPr/>
            <p:nvPr/>
          </p:nvSpPr>
          <p:spPr>
            <a:xfrm>
              <a:off x="4626067" y="571298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3D600"/>
                </a:gs>
                <a:gs pos="97000">
                  <a:srgbClr val="74B9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442F2E3-7F53-4719-AABA-16BD2C242073}"/>
                </a:ext>
              </a:extLst>
            </p:cNvPr>
            <p:cNvSpPr/>
            <p:nvPr/>
          </p:nvSpPr>
          <p:spPr>
            <a:xfrm>
              <a:off x="4678431" y="576023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331339B-7EC2-4EF0-9E44-65DD14E546FE}"/>
                </a:ext>
              </a:extLst>
            </p:cNvPr>
            <p:cNvSpPr txBox="1"/>
            <p:nvPr/>
          </p:nvSpPr>
          <p:spPr>
            <a:xfrm>
              <a:off x="4803306" y="5855752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F997E43-B3A2-4503-9C84-A8ACC224A177}"/>
                </a:ext>
              </a:extLst>
            </p:cNvPr>
            <p:cNvSpPr txBox="1"/>
            <p:nvPr/>
          </p:nvSpPr>
          <p:spPr>
            <a:xfrm>
              <a:off x="5399716" y="5750100"/>
              <a:ext cx="202415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User-friendly dashboard to visualize and explore detection results.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F276933-997C-4EED-8808-74030997E8B6}"/>
              </a:ext>
            </a:extLst>
          </p:cNvPr>
          <p:cNvGrpSpPr/>
          <p:nvPr/>
        </p:nvGrpSpPr>
        <p:grpSpPr>
          <a:xfrm>
            <a:off x="5454953" y="1516225"/>
            <a:ext cx="3019730" cy="802110"/>
            <a:chOff x="5454953" y="1516225"/>
            <a:chExt cx="3019730" cy="802110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AD1D8CE-23CA-4164-8BCF-1775C2CD4953}"/>
                </a:ext>
              </a:extLst>
            </p:cNvPr>
            <p:cNvSpPr/>
            <p:nvPr/>
          </p:nvSpPr>
          <p:spPr>
            <a:xfrm>
              <a:off x="5454953" y="1516225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851A"/>
                </a:gs>
                <a:gs pos="97000">
                  <a:srgbClr val="E7000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4B8AFC-EEA7-42C3-8AAD-057B4DE359AA}"/>
                </a:ext>
              </a:extLst>
            </p:cNvPr>
            <p:cNvSpPr/>
            <p:nvPr/>
          </p:nvSpPr>
          <p:spPr>
            <a:xfrm>
              <a:off x="5516719" y="1563472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F381830-6816-42CF-B9F1-848EE29C6252}"/>
                </a:ext>
              </a:extLst>
            </p:cNvPr>
            <p:cNvSpPr txBox="1"/>
            <p:nvPr/>
          </p:nvSpPr>
          <p:spPr>
            <a:xfrm>
              <a:off x="5664743" y="1686643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2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9C39B54-5068-4E9F-A0A2-E2D6B9FDB0D4}"/>
                </a:ext>
              </a:extLst>
            </p:cNvPr>
            <p:cNvSpPr txBox="1"/>
            <p:nvPr/>
          </p:nvSpPr>
          <p:spPr>
            <a:xfrm>
              <a:off x="5966899" y="1579671"/>
              <a:ext cx="250778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Verification of factual claims using real-time checking mechanisms.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5B0AA49-59B1-4F13-AF28-0AB65F6762CE}"/>
              </a:ext>
            </a:extLst>
          </p:cNvPr>
          <p:cNvGrpSpPr/>
          <p:nvPr/>
        </p:nvGrpSpPr>
        <p:grpSpPr>
          <a:xfrm>
            <a:off x="5454953" y="4663792"/>
            <a:ext cx="2872094" cy="780295"/>
            <a:chOff x="5454953" y="4663792"/>
            <a:chExt cx="2872094" cy="78029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EB31C13-FE45-402C-8A4F-B67597F78EE4}"/>
                </a:ext>
              </a:extLst>
            </p:cNvPr>
            <p:cNvSpPr/>
            <p:nvPr/>
          </p:nvSpPr>
          <p:spPr>
            <a:xfrm>
              <a:off x="5454953" y="4663792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7DF"/>
                </a:gs>
                <a:gs pos="97000">
                  <a:srgbClr val="00A0B1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9B34C4-FCD2-47E6-9B5C-D6BDDE3215CA}"/>
                </a:ext>
              </a:extLst>
            </p:cNvPr>
            <p:cNvSpPr/>
            <p:nvPr/>
          </p:nvSpPr>
          <p:spPr>
            <a:xfrm>
              <a:off x="5516719" y="4723499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998EBBC-DC0C-4DDB-9F1A-27A1323BA208}"/>
                </a:ext>
              </a:extLst>
            </p:cNvPr>
            <p:cNvSpPr txBox="1"/>
            <p:nvPr/>
          </p:nvSpPr>
          <p:spPr>
            <a:xfrm>
              <a:off x="5660492" y="4846388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067ACB2-BC5E-4869-BF6B-5D2D04C206BD}"/>
                </a:ext>
              </a:extLst>
            </p:cNvPr>
            <p:cNvSpPr txBox="1"/>
            <p:nvPr/>
          </p:nvSpPr>
          <p:spPr>
            <a:xfrm>
              <a:off x="6128270" y="4686509"/>
              <a:ext cx="215746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Detection and analysis of fake news across multiple languages.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6F3AB33-8833-4300-AD00-1D290EE1E279}"/>
              </a:ext>
            </a:extLst>
          </p:cNvPr>
          <p:cNvGrpSpPr/>
          <p:nvPr/>
        </p:nvGrpSpPr>
        <p:grpSpPr>
          <a:xfrm>
            <a:off x="5987822" y="2565414"/>
            <a:ext cx="2872094" cy="780295"/>
            <a:chOff x="5987822" y="2565414"/>
            <a:chExt cx="2872094" cy="78029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C5E14AE-6928-48A8-839E-EBCE00E18D23}"/>
                </a:ext>
              </a:extLst>
            </p:cNvPr>
            <p:cNvSpPr/>
            <p:nvPr/>
          </p:nvSpPr>
          <p:spPr>
            <a:xfrm>
              <a:off x="5987822" y="2565414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85AA2"/>
                </a:gs>
                <a:gs pos="97000">
                  <a:srgbClr val="BD2583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4FDBFDD-8340-4786-B5F5-3F23629DFC08}"/>
                </a:ext>
              </a:extLst>
            </p:cNvPr>
            <p:cNvSpPr/>
            <p:nvPr/>
          </p:nvSpPr>
          <p:spPr>
            <a:xfrm>
              <a:off x="6049677" y="2612661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65916CE-AB2A-4543-AD58-8238CE7DFEFF}"/>
                </a:ext>
              </a:extLst>
            </p:cNvPr>
            <p:cNvSpPr txBox="1"/>
            <p:nvPr/>
          </p:nvSpPr>
          <p:spPr>
            <a:xfrm>
              <a:off x="6185400" y="2693951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3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E86320E-852A-48E5-90E8-A9F0AD32F733}"/>
                </a:ext>
              </a:extLst>
            </p:cNvPr>
            <p:cNvSpPr txBox="1"/>
            <p:nvPr/>
          </p:nvSpPr>
          <p:spPr>
            <a:xfrm>
              <a:off x="6702714" y="2607043"/>
              <a:ext cx="213022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Explainable results with highlighted keywords and suspicious patterns.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CD8BF9-A34A-4C7C-8129-A87CF26C6D30}"/>
              </a:ext>
            </a:extLst>
          </p:cNvPr>
          <p:cNvGrpSpPr/>
          <p:nvPr/>
        </p:nvGrpSpPr>
        <p:grpSpPr>
          <a:xfrm>
            <a:off x="5987822" y="3614603"/>
            <a:ext cx="2872094" cy="794399"/>
            <a:chOff x="5987822" y="3614603"/>
            <a:chExt cx="2872094" cy="794399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49A8B012-1545-4436-8528-FBBF0EE522E0}"/>
                </a:ext>
              </a:extLst>
            </p:cNvPr>
            <p:cNvSpPr/>
            <p:nvPr/>
          </p:nvSpPr>
          <p:spPr>
            <a:xfrm>
              <a:off x="5987822" y="3614603"/>
              <a:ext cx="2872094" cy="78029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7B5BA6"/>
                </a:gs>
                <a:gs pos="97000">
                  <a:srgbClr val="593F92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79CBBB-135D-40C7-90C7-9E2A0EB63DA1}"/>
                </a:ext>
              </a:extLst>
            </p:cNvPr>
            <p:cNvSpPr/>
            <p:nvPr/>
          </p:nvSpPr>
          <p:spPr>
            <a:xfrm>
              <a:off x="6049677" y="3661850"/>
              <a:ext cx="685800" cy="685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C8FE8E-1548-41A5-9544-4944BD64E63A}"/>
                </a:ext>
              </a:extLst>
            </p:cNvPr>
            <p:cNvSpPr txBox="1"/>
            <p:nvPr/>
          </p:nvSpPr>
          <p:spPr>
            <a:xfrm>
              <a:off x="6188385" y="3738355"/>
              <a:ext cx="3385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101600" dist="63500" dir="2700000" algn="tl" rotWithShape="0">
                      <a:prstClr val="black">
                        <a:alpha val="41000"/>
                      </a:prstClr>
                    </a:outerShdw>
                  </a:effectLst>
                  <a:latin typeface="Eurostile BQ" pitchFamily="50" charset="0"/>
                </a:rPr>
                <a:t>4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E4984A-6478-48B1-AA4D-6FFDD65F7041}"/>
                </a:ext>
              </a:extLst>
            </p:cNvPr>
            <p:cNvSpPr txBox="1"/>
            <p:nvPr/>
          </p:nvSpPr>
          <p:spPr>
            <a:xfrm>
              <a:off x="6729696" y="3670338"/>
              <a:ext cx="210323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Evaluation and scoring of content based on the credibility of its source.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12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4D236BA1-2E53-46D7-9927-7D2A20E62868}"/>
              </a:ext>
            </a:extLst>
          </p:cNvPr>
          <p:cNvSpPr/>
          <p:nvPr/>
        </p:nvSpPr>
        <p:spPr>
          <a:xfrm rot="16200000">
            <a:off x="3304118" y="5008933"/>
            <a:ext cx="1164167" cy="17102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44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B9A8646E-6C27-4511-8BE9-72A059EC39A1}"/>
              </a:ext>
            </a:extLst>
          </p:cNvPr>
          <p:cNvSpPr/>
          <p:nvPr/>
        </p:nvSpPr>
        <p:spPr>
          <a:xfrm rot="16200000">
            <a:off x="3194053" y="3734699"/>
            <a:ext cx="1164165" cy="1930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D6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21BE7F31-0738-4FF1-AFD4-2F00C02CE724}"/>
              </a:ext>
            </a:extLst>
          </p:cNvPr>
          <p:cNvSpPr/>
          <p:nvPr/>
        </p:nvSpPr>
        <p:spPr>
          <a:xfrm rot="16200000">
            <a:off x="3075785" y="2452263"/>
            <a:ext cx="1164162" cy="21669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83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86DC3AF4-70D6-46AA-BECD-E338A95DF6E7}"/>
              </a:ext>
            </a:extLst>
          </p:cNvPr>
          <p:cNvSpPr/>
          <p:nvPr/>
        </p:nvSpPr>
        <p:spPr>
          <a:xfrm rot="16200000">
            <a:off x="2965457" y="1186233"/>
            <a:ext cx="1164162" cy="2387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1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15A5F7F-E767-4454-BE7F-23B84EA27BFC}"/>
              </a:ext>
            </a:extLst>
          </p:cNvPr>
          <p:cNvSpPr/>
          <p:nvPr/>
        </p:nvSpPr>
        <p:spPr>
          <a:xfrm>
            <a:off x="4724399" y="4075481"/>
            <a:ext cx="4571152" cy="2413000"/>
          </a:xfrm>
          <a:custGeom>
            <a:avLst/>
            <a:gdLst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98036 h 2413000"/>
              <a:gd name="connsiteX7" fmla="*/ 1997285 w 4571152"/>
              <a:gd name="connsiteY7" fmla="*/ 1189550 h 2413000"/>
              <a:gd name="connsiteX8" fmla="*/ 1217572 w 4571152"/>
              <a:gd name="connsiteY8" fmla="*/ 1189550 h 2413000"/>
              <a:gd name="connsiteX9" fmla="*/ 24738 w 4571152"/>
              <a:gd name="connsiteY9" fmla="*/ 2323108 h 2413000"/>
              <a:gd name="connsiteX10" fmla="*/ 16965 w 4571152"/>
              <a:gd name="connsiteY10" fmla="*/ 2413000 h 2413000"/>
              <a:gd name="connsiteX11" fmla="*/ 0 w 4571152"/>
              <a:gd name="connsiteY11" fmla="*/ 2216780 h 2413000"/>
              <a:gd name="connsiteX12" fmla="*/ 0 w 4571152"/>
              <a:gd name="connsiteY12" fmla="*/ 1419670 h 2413000"/>
              <a:gd name="connsiteX13" fmla="*/ 1217572 w 4571152"/>
              <a:gd name="connsiteY13" fmla="*/ 0 h 2413000"/>
              <a:gd name="connsiteX0" fmla="*/ 1217572 w 4571152"/>
              <a:gd name="connsiteY0" fmla="*/ 0 h 2413000"/>
              <a:gd name="connsiteX1" fmla="*/ 3996267 w 4571152"/>
              <a:gd name="connsiteY1" fmla="*/ 0 h 2413000"/>
              <a:gd name="connsiteX2" fmla="*/ 3996267 w 4571152"/>
              <a:gd name="connsiteY2" fmla="*/ 10476 h 2413000"/>
              <a:gd name="connsiteX3" fmla="*/ 4096238 w 4571152"/>
              <a:gd name="connsiteY3" fmla="*/ 20554 h 2413000"/>
              <a:gd name="connsiteX4" fmla="*/ 4571152 w 4571152"/>
              <a:gd name="connsiteY4" fmla="*/ 603253 h 2413000"/>
              <a:gd name="connsiteX5" fmla="*/ 3976368 w 4571152"/>
              <a:gd name="connsiteY5" fmla="*/ 1198036 h 2413000"/>
              <a:gd name="connsiteX6" fmla="*/ 1997285 w 4571152"/>
              <a:gd name="connsiteY6" fmla="*/ 1189550 h 2413000"/>
              <a:gd name="connsiteX7" fmla="*/ 1217572 w 4571152"/>
              <a:gd name="connsiteY7" fmla="*/ 1189550 h 2413000"/>
              <a:gd name="connsiteX8" fmla="*/ 24738 w 4571152"/>
              <a:gd name="connsiteY8" fmla="*/ 2323108 h 2413000"/>
              <a:gd name="connsiteX9" fmla="*/ 16965 w 4571152"/>
              <a:gd name="connsiteY9" fmla="*/ 2413000 h 2413000"/>
              <a:gd name="connsiteX10" fmla="*/ 0 w 4571152"/>
              <a:gd name="connsiteY10" fmla="*/ 2216780 h 2413000"/>
              <a:gd name="connsiteX11" fmla="*/ 0 w 4571152"/>
              <a:gd name="connsiteY11" fmla="*/ 1419670 h 2413000"/>
              <a:gd name="connsiteX12" fmla="*/ 1217572 w 4571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71152" h="2413000">
                <a:moveTo>
                  <a:pt x="1217572" y="0"/>
                </a:moveTo>
                <a:lnTo>
                  <a:pt x="3996267" y="0"/>
                </a:lnTo>
                <a:lnTo>
                  <a:pt x="3996267" y="10476"/>
                </a:lnTo>
                <a:lnTo>
                  <a:pt x="4096238" y="20554"/>
                </a:lnTo>
                <a:cubicBezTo>
                  <a:pt x="4367271" y="76015"/>
                  <a:pt x="4571152" y="315824"/>
                  <a:pt x="4571152" y="603253"/>
                </a:cubicBezTo>
                <a:cubicBezTo>
                  <a:pt x="4571152" y="931743"/>
                  <a:pt x="4304858" y="1198036"/>
                  <a:pt x="3976368" y="1198036"/>
                </a:cubicBezTo>
                <a:lnTo>
                  <a:pt x="1997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C853D"/>
              </a:gs>
              <a:gs pos="0">
                <a:srgbClr val="C44900"/>
              </a:gs>
              <a:gs pos="26000">
                <a:srgbClr val="C44900"/>
              </a:gs>
              <a:gs pos="72000">
                <a:srgbClr val="C44900"/>
              </a:gs>
              <a:gs pos="100000">
                <a:srgbClr val="C44900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C7ECB94-4E81-4F12-8C4E-E7D766F627C7}"/>
              </a:ext>
            </a:extLst>
          </p:cNvPr>
          <p:cNvSpPr/>
          <p:nvPr/>
        </p:nvSpPr>
        <p:spPr>
          <a:xfrm>
            <a:off x="4724399" y="2885915"/>
            <a:ext cx="4952152" cy="2413000"/>
          </a:xfrm>
          <a:custGeom>
            <a:avLst/>
            <a:gdLst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2378285 w 4952152"/>
              <a:gd name="connsiteY7" fmla="*/ 1189550 h 2413000"/>
              <a:gd name="connsiteX8" fmla="*/ 1217572 w 4952152"/>
              <a:gd name="connsiteY8" fmla="*/ 1189550 h 2413000"/>
              <a:gd name="connsiteX9" fmla="*/ 24738 w 4952152"/>
              <a:gd name="connsiteY9" fmla="*/ 2323108 h 2413000"/>
              <a:gd name="connsiteX10" fmla="*/ 16965 w 4952152"/>
              <a:gd name="connsiteY10" fmla="*/ 2413000 h 2413000"/>
              <a:gd name="connsiteX11" fmla="*/ 0 w 4952152"/>
              <a:gd name="connsiteY11" fmla="*/ 2216780 h 2413000"/>
              <a:gd name="connsiteX12" fmla="*/ 0 w 4952152"/>
              <a:gd name="connsiteY12" fmla="*/ 1419670 h 2413000"/>
              <a:gd name="connsiteX13" fmla="*/ 1217572 w 4952152"/>
              <a:gd name="connsiteY13" fmla="*/ 0 h 2413000"/>
              <a:gd name="connsiteX0" fmla="*/ 1217572 w 4952152"/>
              <a:gd name="connsiteY0" fmla="*/ 0 h 2413000"/>
              <a:gd name="connsiteX1" fmla="*/ 3996267 w 4952152"/>
              <a:gd name="connsiteY1" fmla="*/ 0 h 2413000"/>
              <a:gd name="connsiteX2" fmla="*/ 3996267 w 4952152"/>
              <a:gd name="connsiteY2" fmla="*/ 8469 h 2413000"/>
              <a:gd name="connsiteX3" fmla="*/ 4357368 w 4952152"/>
              <a:gd name="connsiteY3" fmla="*/ 8469 h 2413000"/>
              <a:gd name="connsiteX4" fmla="*/ 4952152 w 4952152"/>
              <a:gd name="connsiteY4" fmla="*/ 603252 h 2413000"/>
              <a:gd name="connsiteX5" fmla="*/ 4357368 w 4952152"/>
              <a:gd name="connsiteY5" fmla="*/ 1198035 h 2413000"/>
              <a:gd name="connsiteX6" fmla="*/ 2378285 w 4952152"/>
              <a:gd name="connsiteY6" fmla="*/ 1198035 h 2413000"/>
              <a:gd name="connsiteX7" fmla="*/ 1217572 w 4952152"/>
              <a:gd name="connsiteY7" fmla="*/ 1189550 h 2413000"/>
              <a:gd name="connsiteX8" fmla="*/ 24738 w 4952152"/>
              <a:gd name="connsiteY8" fmla="*/ 2323108 h 2413000"/>
              <a:gd name="connsiteX9" fmla="*/ 16965 w 4952152"/>
              <a:gd name="connsiteY9" fmla="*/ 2413000 h 2413000"/>
              <a:gd name="connsiteX10" fmla="*/ 0 w 4952152"/>
              <a:gd name="connsiteY10" fmla="*/ 2216780 h 2413000"/>
              <a:gd name="connsiteX11" fmla="*/ 0 w 4952152"/>
              <a:gd name="connsiteY11" fmla="*/ 1419670 h 2413000"/>
              <a:gd name="connsiteX12" fmla="*/ 1217572 w 4952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2152" h="2413000">
                <a:moveTo>
                  <a:pt x="1217572" y="0"/>
                </a:moveTo>
                <a:lnTo>
                  <a:pt x="3996267" y="0"/>
                </a:lnTo>
                <a:lnTo>
                  <a:pt x="3996267" y="8469"/>
                </a:lnTo>
                <a:lnTo>
                  <a:pt x="4357368" y="8469"/>
                </a:lnTo>
                <a:cubicBezTo>
                  <a:pt x="4685858" y="8469"/>
                  <a:pt x="4952152" y="274762"/>
                  <a:pt x="4952152" y="603252"/>
                </a:cubicBezTo>
                <a:cubicBezTo>
                  <a:pt x="4952152" y="931742"/>
                  <a:pt x="4685858" y="1198035"/>
                  <a:pt x="4357368" y="1198035"/>
                </a:cubicBezTo>
                <a:lnTo>
                  <a:pt x="2378285" y="1198035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FBF5EB"/>
              </a:gs>
              <a:gs pos="0">
                <a:srgbClr val="EFD6AC"/>
              </a:gs>
              <a:gs pos="26000">
                <a:srgbClr val="EFD6AC"/>
              </a:gs>
              <a:gs pos="72000">
                <a:srgbClr val="EFD6AC"/>
              </a:gs>
              <a:gs pos="100000">
                <a:srgbClr val="EFD6AC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54942CA-E58D-4698-8288-D777C81D3855}"/>
              </a:ext>
            </a:extLst>
          </p:cNvPr>
          <p:cNvSpPr/>
          <p:nvPr/>
        </p:nvSpPr>
        <p:spPr>
          <a:xfrm>
            <a:off x="4724399" y="1704816"/>
            <a:ext cx="5333152" cy="2413000"/>
          </a:xfrm>
          <a:custGeom>
            <a:avLst/>
            <a:gdLst>
              <a:gd name="connsiteX0" fmla="*/ 1217572 w 5333152"/>
              <a:gd name="connsiteY0" fmla="*/ 0 h 2413000"/>
              <a:gd name="connsiteX1" fmla="*/ 3996267 w 5333152"/>
              <a:gd name="connsiteY1" fmla="*/ 0 h 2413000"/>
              <a:gd name="connsiteX2" fmla="*/ 3996267 w 5333152"/>
              <a:gd name="connsiteY2" fmla="*/ 1 h 2413000"/>
              <a:gd name="connsiteX3" fmla="*/ 4738368 w 5333152"/>
              <a:gd name="connsiteY3" fmla="*/ 1 h 2413000"/>
              <a:gd name="connsiteX4" fmla="*/ 5333152 w 5333152"/>
              <a:gd name="connsiteY4" fmla="*/ 594784 h 2413000"/>
              <a:gd name="connsiteX5" fmla="*/ 4738368 w 5333152"/>
              <a:gd name="connsiteY5" fmla="*/ 1189567 h 2413000"/>
              <a:gd name="connsiteX6" fmla="*/ 2759285 w 5333152"/>
              <a:gd name="connsiteY6" fmla="*/ 1189567 h 2413000"/>
              <a:gd name="connsiteX7" fmla="*/ 2759285 w 5333152"/>
              <a:gd name="connsiteY7" fmla="*/ 1189550 h 2413000"/>
              <a:gd name="connsiteX8" fmla="*/ 1217572 w 5333152"/>
              <a:gd name="connsiteY8" fmla="*/ 1189550 h 2413000"/>
              <a:gd name="connsiteX9" fmla="*/ 24738 w 5333152"/>
              <a:gd name="connsiteY9" fmla="*/ 2323108 h 2413000"/>
              <a:gd name="connsiteX10" fmla="*/ 16965 w 5333152"/>
              <a:gd name="connsiteY10" fmla="*/ 2413000 h 2413000"/>
              <a:gd name="connsiteX11" fmla="*/ 0 w 5333152"/>
              <a:gd name="connsiteY11" fmla="*/ 2216780 h 2413000"/>
              <a:gd name="connsiteX12" fmla="*/ 0 w 5333152"/>
              <a:gd name="connsiteY12" fmla="*/ 1419670 h 2413000"/>
              <a:gd name="connsiteX13" fmla="*/ 1217572 w 5333152"/>
              <a:gd name="connsiteY13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33152" h="2413000">
                <a:moveTo>
                  <a:pt x="1217572" y="0"/>
                </a:moveTo>
                <a:lnTo>
                  <a:pt x="3996267" y="0"/>
                </a:lnTo>
                <a:lnTo>
                  <a:pt x="3996267" y="1"/>
                </a:lnTo>
                <a:lnTo>
                  <a:pt x="4738368" y="1"/>
                </a:lnTo>
                <a:cubicBezTo>
                  <a:pt x="5066858" y="1"/>
                  <a:pt x="5333152" y="266294"/>
                  <a:pt x="5333152" y="594784"/>
                </a:cubicBezTo>
                <a:cubicBezTo>
                  <a:pt x="5333152" y="923274"/>
                  <a:pt x="5066858" y="1189567"/>
                  <a:pt x="4738368" y="1189567"/>
                </a:cubicBezTo>
                <a:lnTo>
                  <a:pt x="2759285" y="1189567"/>
                </a:lnTo>
                <a:lnTo>
                  <a:pt x="2759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close/>
              </a:path>
            </a:pathLst>
          </a:custGeom>
          <a:gradFill flip="none" rotWithShape="1">
            <a:gsLst>
              <a:gs pos="11000">
                <a:srgbClr val="398982"/>
              </a:gs>
              <a:gs pos="0">
                <a:srgbClr val="183A37"/>
              </a:gs>
              <a:gs pos="26000">
                <a:srgbClr val="183A37"/>
              </a:gs>
              <a:gs pos="72000">
                <a:srgbClr val="183A37"/>
              </a:gs>
              <a:gs pos="100000">
                <a:srgbClr val="183A37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057EB4E-D814-4BCC-8B43-9285FD2ECB4B}"/>
              </a:ext>
            </a:extLst>
          </p:cNvPr>
          <p:cNvSpPr/>
          <p:nvPr/>
        </p:nvSpPr>
        <p:spPr>
          <a:xfrm>
            <a:off x="4724399" y="515250"/>
            <a:ext cx="5714152" cy="2413000"/>
          </a:xfrm>
          <a:custGeom>
            <a:avLst/>
            <a:gdLst>
              <a:gd name="connsiteX0" fmla="*/ 3140285 w 5714152"/>
              <a:gd name="connsiteY0" fmla="*/ 0 h 2413000"/>
              <a:gd name="connsiteX1" fmla="*/ 5119368 w 5714152"/>
              <a:gd name="connsiteY1" fmla="*/ 0 h 2413000"/>
              <a:gd name="connsiteX2" fmla="*/ 5714152 w 5714152"/>
              <a:gd name="connsiteY2" fmla="*/ 594783 h 2413000"/>
              <a:gd name="connsiteX3" fmla="*/ 5119368 w 5714152"/>
              <a:gd name="connsiteY3" fmla="*/ 1189566 h 2413000"/>
              <a:gd name="connsiteX4" fmla="*/ 3140285 w 5714152"/>
              <a:gd name="connsiteY4" fmla="*/ 1189566 h 2413000"/>
              <a:gd name="connsiteX5" fmla="*/ 3140285 w 5714152"/>
              <a:gd name="connsiteY5" fmla="*/ 1189550 h 2413000"/>
              <a:gd name="connsiteX6" fmla="*/ 1217572 w 5714152"/>
              <a:gd name="connsiteY6" fmla="*/ 1189550 h 2413000"/>
              <a:gd name="connsiteX7" fmla="*/ 24738 w 5714152"/>
              <a:gd name="connsiteY7" fmla="*/ 2323108 h 2413000"/>
              <a:gd name="connsiteX8" fmla="*/ 16965 w 5714152"/>
              <a:gd name="connsiteY8" fmla="*/ 2413000 h 2413000"/>
              <a:gd name="connsiteX9" fmla="*/ 0 w 5714152"/>
              <a:gd name="connsiteY9" fmla="*/ 2216780 h 2413000"/>
              <a:gd name="connsiteX10" fmla="*/ 0 w 5714152"/>
              <a:gd name="connsiteY10" fmla="*/ 1419670 h 2413000"/>
              <a:gd name="connsiteX11" fmla="*/ 1217572 w 5714152"/>
              <a:gd name="connsiteY11" fmla="*/ 0 h 2413000"/>
              <a:gd name="connsiteX12" fmla="*/ 3140285 w 5714152"/>
              <a:gd name="connsiteY12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4152" h="2413000">
                <a:moveTo>
                  <a:pt x="3140285" y="0"/>
                </a:moveTo>
                <a:lnTo>
                  <a:pt x="5119368" y="0"/>
                </a:lnTo>
                <a:cubicBezTo>
                  <a:pt x="5447858" y="0"/>
                  <a:pt x="5714152" y="266293"/>
                  <a:pt x="5714152" y="594783"/>
                </a:cubicBezTo>
                <a:cubicBezTo>
                  <a:pt x="5714152" y="923273"/>
                  <a:pt x="5447858" y="1189566"/>
                  <a:pt x="5119368" y="1189566"/>
                </a:cubicBezTo>
                <a:lnTo>
                  <a:pt x="3140285" y="1189566"/>
                </a:lnTo>
                <a:lnTo>
                  <a:pt x="3140285" y="1189550"/>
                </a:lnTo>
                <a:lnTo>
                  <a:pt x="1217572" y="1189550"/>
                </a:lnTo>
                <a:cubicBezTo>
                  <a:pt x="629181" y="1189550"/>
                  <a:pt x="138271" y="1676187"/>
                  <a:pt x="24738" y="2323108"/>
                </a:cubicBezTo>
                <a:lnTo>
                  <a:pt x="16965" y="2413000"/>
                </a:lnTo>
                <a:lnTo>
                  <a:pt x="0" y="2216780"/>
                </a:lnTo>
                <a:lnTo>
                  <a:pt x="0" y="1419670"/>
                </a:lnTo>
                <a:cubicBezTo>
                  <a:pt x="0" y="635608"/>
                  <a:pt x="545125" y="0"/>
                  <a:pt x="1217572" y="0"/>
                </a:cubicBezTo>
                <a:lnTo>
                  <a:pt x="3140285" y="0"/>
                </a:lnTo>
                <a:close/>
              </a:path>
            </a:pathLst>
          </a:custGeom>
          <a:gradFill flip="none" rotWithShape="1">
            <a:gsLst>
              <a:gs pos="11000">
                <a:srgbClr val="11557F"/>
              </a:gs>
              <a:gs pos="0">
                <a:srgbClr val="04151F"/>
              </a:gs>
              <a:gs pos="26000">
                <a:srgbClr val="04151F"/>
              </a:gs>
              <a:gs pos="72000">
                <a:srgbClr val="04151F"/>
              </a:gs>
              <a:gs pos="100000">
                <a:srgbClr val="04151F"/>
              </a:gs>
            </a:gsLst>
            <a:lin ang="0" scaled="1"/>
            <a:tileRect/>
          </a:gradFill>
          <a:ln>
            <a:noFill/>
          </a:ln>
          <a:effectLst>
            <a:outerShdw blurRad="203200" dist="889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88D41C8-D7A5-4418-A813-EFE93AF7FA89}"/>
              </a:ext>
            </a:extLst>
          </p:cNvPr>
          <p:cNvSpPr/>
          <p:nvPr/>
        </p:nvSpPr>
        <p:spPr>
          <a:xfrm>
            <a:off x="9364129" y="623200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C15CAE-8AA4-45DE-B4CD-A5980709A573}"/>
              </a:ext>
            </a:extLst>
          </p:cNvPr>
          <p:cNvSpPr/>
          <p:nvPr/>
        </p:nvSpPr>
        <p:spPr>
          <a:xfrm>
            <a:off x="8979749" y="1808532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EB8F7C1-3D17-4A0D-9353-5AD4F34603CA}"/>
              </a:ext>
            </a:extLst>
          </p:cNvPr>
          <p:cNvSpPr/>
          <p:nvPr/>
        </p:nvSpPr>
        <p:spPr>
          <a:xfrm>
            <a:off x="8595369" y="2993864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3FEE88-0429-4617-BA0D-451577C4E0D2}"/>
              </a:ext>
            </a:extLst>
          </p:cNvPr>
          <p:cNvSpPr/>
          <p:nvPr/>
        </p:nvSpPr>
        <p:spPr>
          <a:xfrm>
            <a:off x="8210989" y="4179196"/>
            <a:ext cx="973667" cy="9736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778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201686-7F1F-4516-ADDA-FDC8D3015F5B}"/>
              </a:ext>
            </a:extLst>
          </p:cNvPr>
          <p:cNvSpPr txBox="1"/>
          <p:nvPr/>
        </p:nvSpPr>
        <p:spPr>
          <a:xfrm>
            <a:off x="9450016" y="786867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C85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04</a:t>
            </a:r>
            <a:endParaRPr lang="en-IN" sz="2000" dirty="0">
              <a:solidFill>
                <a:srgbClr val="FC853D"/>
              </a:solidFill>
              <a:latin typeface="Economica" panose="0200050604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5BF3C9-C93A-4AD1-B655-F376D69A1D5D}"/>
              </a:ext>
            </a:extLst>
          </p:cNvPr>
          <p:cNvSpPr txBox="1"/>
          <p:nvPr/>
        </p:nvSpPr>
        <p:spPr>
          <a:xfrm>
            <a:off x="9065636" y="1953665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EFD6A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03</a:t>
            </a:r>
            <a:endParaRPr lang="en-IN" sz="2000" dirty="0">
              <a:solidFill>
                <a:srgbClr val="EFD6AC"/>
              </a:solidFill>
              <a:latin typeface="Economica" panose="0200050604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DEC01D-1029-4C1D-BBAE-BF14A9210432}"/>
              </a:ext>
            </a:extLst>
          </p:cNvPr>
          <p:cNvSpPr txBox="1"/>
          <p:nvPr/>
        </p:nvSpPr>
        <p:spPr>
          <a:xfrm>
            <a:off x="8664690" y="3157531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183A3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02</a:t>
            </a:r>
            <a:endParaRPr lang="en-IN" sz="2000" dirty="0">
              <a:solidFill>
                <a:srgbClr val="183A37"/>
              </a:solidFill>
              <a:latin typeface="Economica" panose="0200050604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E4400-66E3-44DA-A5EA-C3A98DA47D57}"/>
              </a:ext>
            </a:extLst>
          </p:cNvPr>
          <p:cNvSpPr txBox="1"/>
          <p:nvPr/>
        </p:nvSpPr>
        <p:spPr>
          <a:xfrm>
            <a:off x="8314918" y="4375970"/>
            <a:ext cx="801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4151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01</a:t>
            </a:r>
            <a:endParaRPr lang="en-IN" sz="2000" dirty="0">
              <a:solidFill>
                <a:srgbClr val="04151F"/>
              </a:solidFill>
              <a:latin typeface="Economica" panose="0200050604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B4DFC6-A671-4B18-AF8D-124848318068}"/>
              </a:ext>
            </a:extLst>
          </p:cNvPr>
          <p:cNvSpPr txBox="1"/>
          <p:nvPr/>
        </p:nvSpPr>
        <p:spPr>
          <a:xfrm>
            <a:off x="5769122" y="581029"/>
            <a:ext cx="32298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Web &amp; Backend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Flask / </a:t>
            </a:r>
            <a:r>
              <a:rPr lang="en-IN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FastAPI</a:t>
            </a: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JWT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deployment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3A2BC8-2F02-44BD-A2C6-6E6AE4D3B7BE}"/>
              </a:ext>
            </a:extLst>
          </p:cNvPr>
          <p:cNvSpPr txBox="1"/>
          <p:nvPr/>
        </p:nvSpPr>
        <p:spPr>
          <a:xfrm>
            <a:off x="5486032" y="4075481"/>
            <a:ext cx="32298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NLP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Tokenization, </a:t>
            </a:r>
            <a:r>
              <a:rPr lang="en-IN" sz="1600" dirty="0" err="1">
                <a:solidFill>
                  <a:schemeClr val="bg1"/>
                </a:solidFill>
              </a:rPr>
              <a:t>Stopword</a:t>
            </a:r>
            <a:r>
              <a:rPr lang="en-IN" sz="1600" dirty="0">
                <a:solidFill>
                  <a:schemeClr val="bg1"/>
                </a:solidFill>
              </a:rPr>
              <a:t>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Lemmatization (</a:t>
            </a:r>
            <a:r>
              <a:rPr lang="en-IN" sz="1600" dirty="0" err="1">
                <a:solidFill>
                  <a:schemeClr val="bg1"/>
                </a:solidFill>
              </a:rPr>
              <a:t>spaCy</a:t>
            </a:r>
            <a:r>
              <a:rPr lang="en-IN" sz="1600" dirty="0">
                <a:solidFill>
                  <a:schemeClr val="bg1"/>
                </a:solidFill>
              </a:rPr>
              <a:t>, NLTK)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Named Entity Recognition (NER)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Dependency Parsing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CC73B4-14D9-4B11-A8AC-0B3AB6C382B9}"/>
              </a:ext>
            </a:extLst>
          </p:cNvPr>
          <p:cNvSpPr txBox="1"/>
          <p:nvPr/>
        </p:nvSpPr>
        <p:spPr>
          <a:xfrm>
            <a:off x="5632770" y="1808532"/>
            <a:ext cx="32610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APIs &amp;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Google Fact Check Tools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PolitiFact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SQL / NoSQL storage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EAF0E7-F78E-4C85-B9D9-D4E481AAB43D}"/>
              </a:ext>
            </a:extLst>
          </p:cNvPr>
          <p:cNvSpPr txBox="1"/>
          <p:nvPr/>
        </p:nvSpPr>
        <p:spPr>
          <a:xfrm>
            <a:off x="5632771" y="2945132"/>
            <a:ext cx="3083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Machine Learning /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Transformer models: </a:t>
            </a:r>
            <a:r>
              <a:rPr lang="en-IN" sz="1600" b="1" dirty="0"/>
              <a:t>BERT,      </a:t>
            </a:r>
            <a:r>
              <a:rPr lang="en-IN" sz="1600" b="1" dirty="0" err="1"/>
              <a:t>RoBERTa</a:t>
            </a:r>
            <a:r>
              <a:rPr lang="en-IN" sz="1600" b="1" dirty="0"/>
              <a:t>, </a:t>
            </a:r>
            <a:r>
              <a:rPr lang="en-IN" sz="1600" b="1" dirty="0" err="1"/>
              <a:t>DistilBERT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Fine-tuning for classification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F242D3-578E-4B78-95A0-57308B46328D}"/>
              </a:ext>
            </a:extLst>
          </p:cNvPr>
          <p:cNvSpPr txBox="1"/>
          <p:nvPr/>
        </p:nvSpPr>
        <p:spPr>
          <a:xfrm>
            <a:off x="284891" y="150380"/>
            <a:ext cx="4239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Technologies Used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Economica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74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5A294B5-FD25-49EF-AECD-E442225A9501}"/>
              </a:ext>
            </a:extLst>
          </p:cNvPr>
          <p:cNvSpPr/>
          <p:nvPr/>
        </p:nvSpPr>
        <p:spPr>
          <a:xfrm>
            <a:off x="4884798" y="2217798"/>
            <a:ext cx="2422405" cy="242240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643250-0EAB-4E29-9F4B-866A59001718}"/>
              </a:ext>
            </a:extLst>
          </p:cNvPr>
          <p:cNvGrpSpPr/>
          <p:nvPr/>
        </p:nvGrpSpPr>
        <p:grpSpPr>
          <a:xfrm>
            <a:off x="4617312" y="741469"/>
            <a:ext cx="1961720" cy="2465203"/>
            <a:chOff x="4617312" y="741469"/>
            <a:chExt cx="1961720" cy="24652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65CDC5-5D45-414D-92A7-A1ADC9F51E30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E0A4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AEC44A-2431-4753-9D1E-F41494403EE2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F0B1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27CD56-1923-46ED-B30C-49C15D007500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C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8F804-AC7B-4334-86D2-A4C26A289F8E}"/>
              </a:ext>
            </a:extLst>
          </p:cNvPr>
          <p:cNvGrpSpPr/>
          <p:nvPr/>
        </p:nvGrpSpPr>
        <p:grpSpPr>
          <a:xfrm rot="2700000">
            <a:off x="5792822" y="825983"/>
            <a:ext cx="1961720" cy="2465203"/>
            <a:chOff x="4617312" y="741469"/>
            <a:chExt cx="1961720" cy="246520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47FFA0E-3843-4D75-A5F3-518068D38F94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668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9B98A40-4948-4E14-BB0D-993E382A6B79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BA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2DD3B0C-8733-4A92-9D91-3C791316CBB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0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F7C2BA6-0279-4021-8454-DF94FCE6C31D}"/>
              </a:ext>
            </a:extLst>
          </p:cNvPr>
          <p:cNvGrpSpPr/>
          <p:nvPr/>
        </p:nvGrpSpPr>
        <p:grpSpPr>
          <a:xfrm rot="5400000">
            <a:off x="6563954" y="1702137"/>
            <a:ext cx="1961720" cy="2465203"/>
            <a:chOff x="4617312" y="741469"/>
            <a:chExt cx="1961720" cy="2465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AFAC166-DDE8-4C2A-908C-B2DC17A5F9E2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07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D28662-04E3-4569-AE90-1A8AEBDF105F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395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6D040A-E205-4B3D-B6A0-C69A5C8EFF7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7B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FAC994-9C2F-4BBD-BDB4-D3BFC038080D}"/>
              </a:ext>
            </a:extLst>
          </p:cNvPr>
          <p:cNvGrpSpPr/>
          <p:nvPr/>
        </p:nvGrpSpPr>
        <p:grpSpPr>
          <a:xfrm rot="8100000">
            <a:off x="6484593" y="2873863"/>
            <a:ext cx="1961720" cy="2465203"/>
            <a:chOff x="4617312" y="741469"/>
            <a:chExt cx="1961720" cy="246520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01EF99-0509-4BE1-AA02-6EADBC4A79D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238A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5EB83F-7039-4D40-8468-24FCBCABEDC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29A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419346-8205-4709-B8DE-C677188A0ECE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C1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066F53-8B70-41AD-AEA5-91AF4F438B6F}"/>
              </a:ext>
            </a:extLst>
          </p:cNvPr>
          <p:cNvGrpSpPr/>
          <p:nvPr/>
        </p:nvGrpSpPr>
        <p:grpSpPr>
          <a:xfrm rot="10800000">
            <a:off x="5602293" y="3640760"/>
            <a:ext cx="1961720" cy="2465203"/>
            <a:chOff x="4617312" y="741469"/>
            <a:chExt cx="1961720" cy="246520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662B77-C6AC-4ED9-92F8-CBE4C6C62F96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1542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96EC62-6359-4975-A98C-00101DBD446E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194E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7BAD86-4DE4-4D30-AED7-1725E45661AB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76B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2CA8E1-AD74-49DF-8C2E-2818995D4B99}"/>
              </a:ext>
            </a:extLst>
          </p:cNvPr>
          <p:cNvGrpSpPr/>
          <p:nvPr/>
        </p:nvGrpSpPr>
        <p:grpSpPr>
          <a:xfrm rot="13500000">
            <a:off x="4437203" y="3560871"/>
            <a:ext cx="1961720" cy="2465203"/>
            <a:chOff x="4617312" y="741469"/>
            <a:chExt cx="1961720" cy="246520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CED554-55B7-4432-A00F-AE5197AE716C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5A2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527F66-717B-4716-9909-A8491B048D2C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733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B4054D-4602-4FB6-8C78-06E89969BD8D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648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53AEFF-6967-41DC-898E-208A2D492744}"/>
              </a:ext>
            </a:extLst>
          </p:cNvPr>
          <p:cNvGrpSpPr/>
          <p:nvPr/>
        </p:nvGrpSpPr>
        <p:grpSpPr>
          <a:xfrm rot="16200000">
            <a:off x="3676183" y="2678769"/>
            <a:ext cx="1961720" cy="2465203"/>
            <a:chOff x="4617312" y="741469"/>
            <a:chExt cx="1961720" cy="246520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1623538-A1FD-44A5-9578-695994F9364A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A1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2000D3-2880-460C-A40E-C37C077DADD6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23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9CA8EF-0519-4124-A6B1-6C5D1C67BCD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55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14A551-DC9F-408F-9BC4-2000AD8D9D37}"/>
              </a:ext>
            </a:extLst>
          </p:cNvPr>
          <p:cNvGrpSpPr/>
          <p:nvPr/>
        </p:nvGrpSpPr>
        <p:grpSpPr>
          <a:xfrm rot="18900000">
            <a:off x="3753720" y="1514859"/>
            <a:ext cx="1961720" cy="2465203"/>
            <a:chOff x="4617312" y="741469"/>
            <a:chExt cx="1961720" cy="246520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00EE06-86FD-45F0-9AAD-165E5ED13B4F}"/>
                </a:ext>
              </a:extLst>
            </p:cNvPr>
            <p:cNvSpPr/>
            <p:nvPr/>
          </p:nvSpPr>
          <p:spPr>
            <a:xfrm rot="1802297">
              <a:off x="5091321" y="741469"/>
              <a:ext cx="1155360" cy="1158621"/>
            </a:xfrm>
            <a:custGeom>
              <a:avLst/>
              <a:gdLst>
                <a:gd name="connsiteX0" fmla="*/ 287952 w 1155360"/>
                <a:gd name="connsiteY0" fmla="*/ 77891 h 1158621"/>
                <a:gd name="connsiteX1" fmla="*/ 1079315 w 1155360"/>
                <a:gd name="connsiteY1" fmla="*/ 289369 h 1158621"/>
                <a:gd name="connsiteX2" fmla="*/ 1152769 w 1155360"/>
                <a:gd name="connsiteY2" fmla="*/ 507330 h 1158621"/>
                <a:gd name="connsiteX3" fmla="*/ 1155360 w 1155360"/>
                <a:gd name="connsiteY3" fmla="*/ 603331 h 1158621"/>
                <a:gd name="connsiteX4" fmla="*/ 1154757 w 1155360"/>
                <a:gd name="connsiteY4" fmla="*/ 621153 h 1158621"/>
                <a:gd name="connsiteX5" fmla="*/ 1154877 w 1155360"/>
                <a:gd name="connsiteY5" fmla="*/ 624695 h 1158621"/>
                <a:gd name="connsiteX6" fmla="*/ 1137472 w 1155360"/>
                <a:gd name="connsiteY6" fmla="*/ 728849 h 1158621"/>
                <a:gd name="connsiteX7" fmla="*/ 867836 w 1155360"/>
                <a:gd name="connsiteY7" fmla="*/ 1080732 h 1158621"/>
                <a:gd name="connsiteX8" fmla="*/ 76474 w 1155360"/>
                <a:gd name="connsiteY8" fmla="*/ 869253 h 1158621"/>
                <a:gd name="connsiteX9" fmla="*/ 42803 w 1155360"/>
                <a:gd name="connsiteY9" fmla="*/ 794617 h 1158621"/>
                <a:gd name="connsiteX10" fmla="*/ 40758 w 1155360"/>
                <a:gd name="connsiteY10" fmla="*/ 789161 h 1158621"/>
                <a:gd name="connsiteX11" fmla="*/ 6529 w 1155360"/>
                <a:gd name="connsiteY11" fmla="*/ 665624 h 1158621"/>
                <a:gd name="connsiteX12" fmla="*/ 2844 w 1155360"/>
                <a:gd name="connsiteY12" fmla="*/ 644778 h 1158621"/>
                <a:gd name="connsiteX13" fmla="*/ 0 w 1155360"/>
                <a:gd name="connsiteY13" fmla="*/ 539387 h 1158621"/>
                <a:gd name="connsiteX14" fmla="*/ 287952 w 1155360"/>
                <a:gd name="connsiteY14" fmla="*/ 77891 h 115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5360" h="1158621">
                  <a:moveTo>
                    <a:pt x="287952" y="77891"/>
                  </a:moveTo>
                  <a:cubicBezTo>
                    <a:pt x="564879" y="-82240"/>
                    <a:pt x="919184" y="12442"/>
                    <a:pt x="1079315" y="289369"/>
                  </a:cubicBezTo>
                  <a:cubicBezTo>
                    <a:pt x="1119347" y="358601"/>
                    <a:pt x="1143454" y="432669"/>
                    <a:pt x="1152769" y="507330"/>
                  </a:cubicBezTo>
                  <a:lnTo>
                    <a:pt x="1155360" y="603331"/>
                  </a:lnTo>
                  <a:lnTo>
                    <a:pt x="1154757" y="621153"/>
                  </a:lnTo>
                  <a:lnTo>
                    <a:pt x="1154877" y="624695"/>
                  </a:lnTo>
                  <a:lnTo>
                    <a:pt x="1137472" y="728849"/>
                  </a:lnTo>
                  <a:cubicBezTo>
                    <a:pt x="1099202" y="872058"/>
                    <a:pt x="1006300" y="1000666"/>
                    <a:pt x="867836" y="1080732"/>
                  </a:cubicBezTo>
                  <a:cubicBezTo>
                    <a:pt x="590910" y="1240862"/>
                    <a:pt x="236604" y="1146180"/>
                    <a:pt x="76474" y="869253"/>
                  </a:cubicBezTo>
                  <a:lnTo>
                    <a:pt x="42803" y="794617"/>
                  </a:lnTo>
                  <a:lnTo>
                    <a:pt x="40758" y="789161"/>
                  </a:lnTo>
                  <a:cubicBezTo>
                    <a:pt x="27262" y="747774"/>
                    <a:pt x="15836" y="706545"/>
                    <a:pt x="6529" y="665624"/>
                  </a:cubicBezTo>
                  <a:lnTo>
                    <a:pt x="2844" y="644778"/>
                  </a:lnTo>
                  <a:lnTo>
                    <a:pt x="0" y="539387"/>
                  </a:lnTo>
                  <a:cubicBezTo>
                    <a:pt x="12983" y="353904"/>
                    <a:pt x="114873" y="177973"/>
                    <a:pt x="287952" y="77891"/>
                  </a:cubicBezTo>
                  <a:close/>
                </a:path>
              </a:pathLst>
            </a:custGeom>
            <a:solidFill>
              <a:srgbClr val="CE63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E002D1-16FD-42BA-8D5D-367071876D00}"/>
                </a:ext>
              </a:extLst>
            </p:cNvPr>
            <p:cNvSpPr/>
            <p:nvPr/>
          </p:nvSpPr>
          <p:spPr>
            <a:xfrm rot="1802297">
              <a:off x="5309032" y="1649642"/>
              <a:ext cx="1258308" cy="1557030"/>
            </a:xfrm>
            <a:custGeom>
              <a:avLst/>
              <a:gdLst>
                <a:gd name="connsiteX0" fmla="*/ 418992 w 1258308"/>
                <a:gd name="connsiteY0" fmla="*/ 0 h 1557030"/>
                <a:gd name="connsiteX1" fmla="*/ 424401 w 1258308"/>
                <a:gd name="connsiteY1" fmla="*/ 159949 h 1557030"/>
                <a:gd name="connsiteX2" fmla="*/ 1171217 w 1258308"/>
                <a:gd name="connsiteY2" fmla="*/ 1523588 h 1557030"/>
                <a:gd name="connsiteX3" fmla="*/ 1258308 w 1258308"/>
                <a:gd name="connsiteY3" fmla="*/ 1557030 h 1557030"/>
                <a:gd name="connsiteX4" fmla="*/ 1115747 w 1258308"/>
                <a:gd name="connsiteY4" fmla="*/ 1530761 h 1557030"/>
                <a:gd name="connsiteX5" fmla="*/ 132101 w 1258308"/>
                <a:gd name="connsiteY5" fmla="*/ 811933 h 1557030"/>
                <a:gd name="connsiteX6" fmla="*/ 2595 w 1258308"/>
                <a:gd name="connsiteY6" fmla="*/ 519833 h 1557030"/>
                <a:gd name="connsiteX7" fmla="*/ 0 w 1258308"/>
                <a:gd name="connsiteY7" fmla="*/ 509961 h 1557030"/>
                <a:gd name="connsiteX8" fmla="*/ 25007 w 1258308"/>
                <a:gd name="connsiteY8" fmla="*/ 504283 h 1557030"/>
                <a:gd name="connsiteX9" fmla="*/ 131952 w 1258308"/>
                <a:gd name="connsiteY9" fmla="*/ 456037 h 1557030"/>
                <a:gd name="connsiteX10" fmla="*/ 401587 w 1258308"/>
                <a:gd name="connsiteY10" fmla="*/ 104154 h 1557030"/>
                <a:gd name="connsiteX11" fmla="*/ 418992 w 1258308"/>
                <a:gd name="connsiteY11" fmla="*/ 0 h 1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308" h="1557030">
                  <a:moveTo>
                    <a:pt x="418992" y="0"/>
                  </a:moveTo>
                  <a:lnTo>
                    <a:pt x="424401" y="159949"/>
                  </a:lnTo>
                  <a:cubicBezTo>
                    <a:pt x="468267" y="805001"/>
                    <a:pt x="768875" y="1336708"/>
                    <a:pt x="1171217" y="1523588"/>
                  </a:cubicBezTo>
                  <a:lnTo>
                    <a:pt x="1258308" y="1557030"/>
                  </a:lnTo>
                  <a:lnTo>
                    <a:pt x="1115747" y="1530761"/>
                  </a:lnTo>
                  <a:cubicBezTo>
                    <a:pt x="709950" y="1435881"/>
                    <a:pt x="350006" y="1188775"/>
                    <a:pt x="132101" y="811933"/>
                  </a:cubicBezTo>
                  <a:cubicBezTo>
                    <a:pt x="77624" y="717723"/>
                    <a:pt x="34604" y="619863"/>
                    <a:pt x="2595" y="519833"/>
                  </a:cubicBezTo>
                  <a:lnTo>
                    <a:pt x="0" y="509961"/>
                  </a:lnTo>
                  <a:lnTo>
                    <a:pt x="25007" y="504283"/>
                  </a:lnTo>
                  <a:cubicBezTo>
                    <a:pt x="61511" y="492088"/>
                    <a:pt x="97336" y="476053"/>
                    <a:pt x="131952" y="456037"/>
                  </a:cubicBezTo>
                  <a:cubicBezTo>
                    <a:pt x="270415" y="375971"/>
                    <a:pt x="363317" y="247363"/>
                    <a:pt x="401587" y="104154"/>
                  </a:cubicBezTo>
                  <a:lnTo>
                    <a:pt x="418992" y="0"/>
                  </a:lnTo>
                  <a:close/>
                </a:path>
              </a:pathLst>
            </a:custGeom>
            <a:solidFill>
              <a:srgbClr val="EF73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663B98-55D0-4FF1-B5E1-87E26FE6F8E5}"/>
                </a:ext>
              </a:extLst>
            </p:cNvPr>
            <p:cNvSpPr/>
            <p:nvPr/>
          </p:nvSpPr>
          <p:spPr>
            <a:xfrm rot="1802297">
              <a:off x="4617312" y="1636742"/>
              <a:ext cx="1961720" cy="1394938"/>
            </a:xfrm>
            <a:custGeom>
              <a:avLst/>
              <a:gdLst>
                <a:gd name="connsiteX0" fmla="*/ 0 w 1961720"/>
                <a:gd name="connsiteY0" fmla="*/ 0 h 1394938"/>
                <a:gd name="connsiteX1" fmla="*/ 33670 w 1961720"/>
                <a:gd name="connsiteY1" fmla="*/ 74636 h 1394938"/>
                <a:gd name="connsiteX2" fmla="*/ 607072 w 1961720"/>
                <a:gd name="connsiteY2" fmla="*/ 359569 h 1394938"/>
                <a:gd name="connsiteX3" fmla="*/ 693081 w 1961720"/>
                <a:gd name="connsiteY3" fmla="*/ 340039 h 1394938"/>
                <a:gd name="connsiteX4" fmla="*/ 695676 w 1961720"/>
                <a:gd name="connsiteY4" fmla="*/ 349911 h 1394938"/>
                <a:gd name="connsiteX5" fmla="*/ 825182 w 1961720"/>
                <a:gd name="connsiteY5" fmla="*/ 642011 h 1394938"/>
                <a:gd name="connsiteX6" fmla="*/ 1808828 w 1961720"/>
                <a:gd name="connsiteY6" fmla="*/ 1360839 h 1394938"/>
                <a:gd name="connsiteX7" fmla="*/ 1951389 w 1961720"/>
                <a:gd name="connsiteY7" fmla="*/ 1387108 h 1394938"/>
                <a:gd name="connsiteX8" fmla="*/ 1961720 w 1961720"/>
                <a:gd name="connsiteY8" fmla="*/ 1391075 h 1394938"/>
                <a:gd name="connsiteX9" fmla="*/ 1904862 w 1961720"/>
                <a:gd name="connsiteY9" fmla="*/ 1394765 h 1394938"/>
                <a:gd name="connsiteX10" fmla="*/ 693695 w 1961720"/>
                <a:gd name="connsiteY10" fmla="*/ 939388 h 1394938"/>
                <a:gd name="connsiteX11" fmla="*/ 44602 w 1961720"/>
                <a:gd name="connsiteY11" fmla="*/ 119019 h 1394938"/>
                <a:gd name="connsiteX12" fmla="*/ 0 w 1961720"/>
                <a:gd name="connsiteY12" fmla="*/ 0 h 139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61720" h="1394938">
                  <a:moveTo>
                    <a:pt x="0" y="0"/>
                  </a:moveTo>
                  <a:lnTo>
                    <a:pt x="33670" y="74636"/>
                  </a:lnTo>
                  <a:cubicBezTo>
                    <a:pt x="153768" y="282331"/>
                    <a:pt x="383090" y="387513"/>
                    <a:pt x="607072" y="359569"/>
                  </a:cubicBezTo>
                  <a:lnTo>
                    <a:pt x="693081" y="340039"/>
                  </a:lnTo>
                  <a:lnTo>
                    <a:pt x="695676" y="349911"/>
                  </a:lnTo>
                  <a:cubicBezTo>
                    <a:pt x="727685" y="449941"/>
                    <a:pt x="770705" y="547801"/>
                    <a:pt x="825182" y="642011"/>
                  </a:cubicBezTo>
                  <a:cubicBezTo>
                    <a:pt x="1043087" y="1018853"/>
                    <a:pt x="1403031" y="1265959"/>
                    <a:pt x="1808828" y="1360839"/>
                  </a:cubicBezTo>
                  <a:lnTo>
                    <a:pt x="1951389" y="1387108"/>
                  </a:lnTo>
                  <a:lnTo>
                    <a:pt x="1961720" y="1391075"/>
                  </a:lnTo>
                  <a:lnTo>
                    <a:pt x="1904862" y="1394765"/>
                  </a:lnTo>
                  <a:cubicBezTo>
                    <a:pt x="1527227" y="1400861"/>
                    <a:pt x="1084440" y="1246115"/>
                    <a:pt x="693695" y="939388"/>
                  </a:cubicBezTo>
                  <a:cubicBezTo>
                    <a:pt x="389783" y="700823"/>
                    <a:pt x="167705" y="409842"/>
                    <a:pt x="44602" y="119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8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636A57B8-C3BA-46C7-A071-B9627CB3BDBF}"/>
              </a:ext>
            </a:extLst>
          </p:cNvPr>
          <p:cNvSpPr/>
          <p:nvPr/>
        </p:nvSpPr>
        <p:spPr>
          <a:xfrm>
            <a:off x="5190409" y="83864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3C3C7D-EED4-4D14-B960-8B2B66AD3F48}"/>
              </a:ext>
            </a:extLst>
          </p:cNvPr>
          <p:cNvSpPr/>
          <p:nvPr/>
        </p:nvSpPr>
        <p:spPr>
          <a:xfrm>
            <a:off x="6813096" y="1168497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A133E8-62B4-4C2F-BD41-4CECE5AD11C6}"/>
              </a:ext>
            </a:extLst>
          </p:cNvPr>
          <p:cNvSpPr/>
          <p:nvPr/>
        </p:nvSpPr>
        <p:spPr>
          <a:xfrm>
            <a:off x="7724706" y="252462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E84E20-C4E8-4A54-B149-67E7F7049EAB}"/>
              </a:ext>
            </a:extLst>
          </p:cNvPr>
          <p:cNvSpPr/>
          <p:nvPr/>
        </p:nvSpPr>
        <p:spPr>
          <a:xfrm>
            <a:off x="7401544" y="4137408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7BD6E7F-EDC2-40D2-A1B8-BF3502AF5097}"/>
              </a:ext>
            </a:extLst>
          </p:cNvPr>
          <p:cNvSpPr/>
          <p:nvPr/>
        </p:nvSpPr>
        <p:spPr>
          <a:xfrm>
            <a:off x="6030153" y="505302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C44FD9-6923-4838-8778-11DF1B410965}"/>
              </a:ext>
            </a:extLst>
          </p:cNvPr>
          <p:cNvSpPr/>
          <p:nvPr/>
        </p:nvSpPr>
        <p:spPr>
          <a:xfrm>
            <a:off x="4422391" y="4732031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14E57C-B05B-4A88-A130-C2974C931450}"/>
              </a:ext>
            </a:extLst>
          </p:cNvPr>
          <p:cNvSpPr/>
          <p:nvPr/>
        </p:nvSpPr>
        <p:spPr>
          <a:xfrm>
            <a:off x="3521954" y="3359864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777940-C6D6-44C6-98D3-610B5DB425B1}"/>
              </a:ext>
            </a:extLst>
          </p:cNvPr>
          <p:cNvSpPr/>
          <p:nvPr/>
        </p:nvSpPr>
        <p:spPr>
          <a:xfrm>
            <a:off x="3842546" y="1754179"/>
            <a:ext cx="962502" cy="96250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39700" sx="102000" sy="102000" algn="ctr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783E15-AA2A-484B-959A-63602F52DA26}"/>
              </a:ext>
            </a:extLst>
          </p:cNvPr>
          <p:cNvSpPr/>
          <p:nvPr/>
        </p:nvSpPr>
        <p:spPr>
          <a:xfrm>
            <a:off x="5330067" y="2663067"/>
            <a:ext cx="1531867" cy="15318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807A92-90FB-4AEC-A9B9-6CE58C08E649}"/>
              </a:ext>
            </a:extLst>
          </p:cNvPr>
          <p:cNvSpPr txBox="1"/>
          <p:nvPr/>
        </p:nvSpPr>
        <p:spPr>
          <a:xfrm>
            <a:off x="5061996" y="1097960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CCB3BE-6E5B-415F-862B-1E33C53F8F6B}"/>
              </a:ext>
            </a:extLst>
          </p:cNvPr>
          <p:cNvSpPr txBox="1"/>
          <p:nvPr/>
        </p:nvSpPr>
        <p:spPr>
          <a:xfrm>
            <a:off x="5938186" y="-13972"/>
            <a:ext cx="3287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User Authentication &amp; Profile Management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Registration and login system using JWT authentication.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User profiles to manage submitted articles and analysis history.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C4BE76-05E7-440A-B9D9-0D2A346CDF22}"/>
              </a:ext>
            </a:extLst>
          </p:cNvPr>
          <p:cNvSpPr txBox="1"/>
          <p:nvPr/>
        </p:nvSpPr>
        <p:spPr>
          <a:xfrm>
            <a:off x="5003775" y="3266746"/>
            <a:ext cx="217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tillium Web" panose="000005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4E047C-63F8-48DA-9070-2124D1E29321}"/>
              </a:ext>
            </a:extLst>
          </p:cNvPr>
          <p:cNvSpPr txBox="1"/>
          <p:nvPr/>
        </p:nvSpPr>
        <p:spPr>
          <a:xfrm>
            <a:off x="6688976" y="1423121"/>
            <a:ext cx="1158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6B8F9-748B-4695-B506-1CD459DE14DA}"/>
              </a:ext>
            </a:extLst>
          </p:cNvPr>
          <p:cNvSpPr txBox="1"/>
          <p:nvPr/>
        </p:nvSpPr>
        <p:spPr>
          <a:xfrm>
            <a:off x="7638951" y="2807504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A7961A-D883-4E52-9262-966A5FC63A8C}"/>
              </a:ext>
            </a:extLst>
          </p:cNvPr>
          <p:cNvSpPr txBox="1"/>
          <p:nvPr/>
        </p:nvSpPr>
        <p:spPr>
          <a:xfrm>
            <a:off x="7302407" y="4433569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71BC15-F0F0-46AF-9478-08CA3BC83B9F}"/>
              </a:ext>
            </a:extLst>
          </p:cNvPr>
          <p:cNvSpPr txBox="1"/>
          <p:nvPr/>
        </p:nvSpPr>
        <p:spPr>
          <a:xfrm>
            <a:off x="5902387" y="5349234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DBF5D7-7300-4075-847D-86247841A664}"/>
              </a:ext>
            </a:extLst>
          </p:cNvPr>
          <p:cNvSpPr txBox="1"/>
          <p:nvPr/>
        </p:nvSpPr>
        <p:spPr>
          <a:xfrm>
            <a:off x="4281299" y="4997931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6E2305-8DA6-4C3E-A786-41C148ECE800}"/>
              </a:ext>
            </a:extLst>
          </p:cNvPr>
          <p:cNvSpPr txBox="1"/>
          <p:nvPr/>
        </p:nvSpPr>
        <p:spPr>
          <a:xfrm>
            <a:off x="3408717" y="3305718"/>
            <a:ext cx="1188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A05414-CC48-451D-86E9-FE04BF7EDB36}"/>
              </a:ext>
            </a:extLst>
          </p:cNvPr>
          <p:cNvSpPr txBox="1"/>
          <p:nvPr/>
        </p:nvSpPr>
        <p:spPr>
          <a:xfrm>
            <a:off x="3715261" y="1984532"/>
            <a:ext cx="118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37208E-4EC6-4D72-9268-65C7E7B273FD}"/>
              </a:ext>
            </a:extLst>
          </p:cNvPr>
          <p:cNvSpPr txBox="1"/>
          <p:nvPr/>
        </p:nvSpPr>
        <p:spPr>
          <a:xfrm>
            <a:off x="7724706" y="955970"/>
            <a:ext cx="43788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100" dirty="0">
                <a:effectLst/>
              </a:rPr>
              <a:t>News Article &amp; Social Media Post Ingestion Module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100" b="0" dirty="0">
                <a:effectLst/>
              </a:rPr>
              <a:t>Paste or upload text, or fetch content from a URL/social media link.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100" b="0" dirty="0">
                <a:effectLst/>
              </a:rPr>
              <a:t>Text extraction and cleaning (handling hashtags, emojis, metadata).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844BDB-D726-4846-B3E7-075F41B01DCD}"/>
              </a:ext>
            </a:extLst>
          </p:cNvPr>
          <p:cNvSpPr txBox="1"/>
          <p:nvPr/>
        </p:nvSpPr>
        <p:spPr>
          <a:xfrm>
            <a:off x="8614502" y="2313242"/>
            <a:ext cx="3803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NLP Preprocessing &amp; Feature Extraction Module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Tokenization, </a:t>
            </a:r>
            <a:r>
              <a:rPr lang="en-IN" sz="1200" b="0" dirty="0" err="1">
                <a:effectLst/>
              </a:rPr>
              <a:t>stopword</a:t>
            </a:r>
            <a:r>
              <a:rPr lang="en-IN" sz="1200" b="0" dirty="0">
                <a:effectLst/>
              </a:rPr>
              <a:t> removal, and lemmatization using NLTK/</a:t>
            </a:r>
            <a:r>
              <a:rPr lang="en-IN" sz="1200" b="0" dirty="0" err="1">
                <a:effectLst/>
              </a:rPr>
              <a:t>spaCy</a:t>
            </a:r>
            <a:r>
              <a:rPr lang="en-IN" sz="1200" b="0" dirty="0">
                <a:effectLst/>
              </a:rPr>
              <a:t>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Named Entity Recognition (NER) to identify people, places, and organizations.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4758F4-1C96-4601-A491-7F10740DD427}"/>
              </a:ext>
            </a:extLst>
          </p:cNvPr>
          <p:cNvSpPr txBox="1"/>
          <p:nvPr/>
        </p:nvSpPr>
        <p:spPr>
          <a:xfrm>
            <a:off x="8463183" y="4295026"/>
            <a:ext cx="3640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Fake News Classification Module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Transformer-based models (e.g., BERT, </a:t>
            </a:r>
            <a:r>
              <a:rPr lang="en-IN" sz="1200" b="0" dirty="0" err="1">
                <a:effectLst/>
              </a:rPr>
              <a:t>RoBERTa</a:t>
            </a:r>
            <a:r>
              <a:rPr lang="en-IN" sz="1200" b="0" dirty="0">
                <a:effectLst/>
              </a:rPr>
              <a:t>) fine-tuned on fake news datasets.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Output: Probability score (0–1) and classification (real/suspicious/fake).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AF324D-4B29-4810-8D64-997AAB37A86F}"/>
              </a:ext>
            </a:extLst>
          </p:cNvPr>
          <p:cNvSpPr txBox="1"/>
          <p:nvPr/>
        </p:nvSpPr>
        <p:spPr>
          <a:xfrm>
            <a:off x="6447516" y="6091912"/>
            <a:ext cx="419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Claim Verification Module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Extract factual claims using dependency parsing and NER.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Verify claims against trusted fact-checking APIs and databases.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B2A56F-759E-4C03-82E4-0ECE67CA975A}"/>
              </a:ext>
            </a:extLst>
          </p:cNvPr>
          <p:cNvSpPr txBox="1"/>
          <p:nvPr/>
        </p:nvSpPr>
        <p:spPr>
          <a:xfrm>
            <a:off x="637016" y="4947228"/>
            <a:ext cx="3839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Explainability &amp; Visualization Module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Highlight suspicious phrases in the text.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Display verification results with supporting source links.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89873E-EE8B-4413-A98A-587B5A0C0E1E}"/>
              </a:ext>
            </a:extLst>
          </p:cNvPr>
          <p:cNvSpPr txBox="1"/>
          <p:nvPr/>
        </p:nvSpPr>
        <p:spPr>
          <a:xfrm>
            <a:off x="526829" y="3001553"/>
            <a:ext cx="3085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Admin Dashboard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Manage trusted source lists and API keys.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200" b="0" dirty="0">
                <a:effectLst/>
              </a:rPr>
              <a:t>Monitor system performance and usage statistics.</a:t>
            </a:r>
            <a:endParaRPr lang="en-US" sz="1200" b="0" spc="600" dirty="0">
              <a:latin typeface="Bavro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B7772D-2E6F-45B9-8DE6-7FF2729D2B8D}"/>
              </a:ext>
            </a:extLst>
          </p:cNvPr>
          <p:cNvSpPr txBox="1"/>
          <p:nvPr/>
        </p:nvSpPr>
        <p:spPr>
          <a:xfrm>
            <a:off x="277470" y="444590"/>
            <a:ext cx="3970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pPr algn="l"/>
            <a:r>
              <a:rPr lang="en-IN" sz="1200" dirty="0">
                <a:effectLst/>
              </a:rPr>
              <a:t>Analysis History &amp; User Interaction Module</a:t>
            </a:r>
          </a:p>
          <a:p>
            <a:pPr lvl="0" algn="l"/>
            <a:r>
              <a:rPr lang="en-IN" sz="1200" b="0" dirty="0">
                <a:effectLst/>
              </a:rPr>
              <a:t>• Stores and displays the history of all analyses performed by users.</a:t>
            </a:r>
            <a:br>
              <a:rPr lang="en-IN" sz="1200" b="0" dirty="0">
                <a:effectLst/>
              </a:rPr>
            </a:br>
            <a:r>
              <a:rPr lang="en-IN" sz="1200" b="0" dirty="0">
                <a:effectLst/>
              </a:rPr>
              <a:t>• Allows users to view detailed results of past analyses (probability score, verdict, highlighted text, and sources).</a:t>
            </a:r>
            <a:br>
              <a:rPr lang="en-IN" sz="1200" b="0" dirty="0">
                <a:effectLst/>
              </a:rPr>
            </a:br>
            <a:r>
              <a:rPr lang="en-IN" sz="1200" b="0" dirty="0">
                <a:effectLst/>
              </a:rPr>
              <a:t>• Provides user profile integration to track submissions, timestamps, and outcomes.</a:t>
            </a:r>
            <a:br>
              <a:rPr lang="en-IN" sz="1200" b="0" dirty="0">
                <a:effectLst/>
              </a:rPr>
            </a:br>
            <a:r>
              <a:rPr lang="en-IN" sz="1200" b="0" dirty="0">
                <a:effectLst/>
              </a:rPr>
              <a:t>• Enables easy navigation between analysis history and detailed reports through an interactive UI.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BFFEA7-6549-4ECB-BA37-C72E865D7097}"/>
              </a:ext>
            </a:extLst>
          </p:cNvPr>
          <p:cNvSpPr txBox="1"/>
          <p:nvPr/>
        </p:nvSpPr>
        <p:spPr>
          <a:xfrm>
            <a:off x="4860600" y="3053179"/>
            <a:ext cx="251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1800" dirty="0">
                <a:solidFill>
                  <a:srgbClr val="002060"/>
                </a:solidFill>
                <a:effectLst/>
              </a:rPr>
              <a:t>Modules  Implemented</a:t>
            </a: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68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Arrow: Pentagon 75">
            <a:extLst>
              <a:ext uri="{FF2B5EF4-FFF2-40B4-BE49-F238E27FC236}">
                <a16:creationId xmlns:a16="http://schemas.microsoft.com/office/drawing/2014/main" id="{400D1F54-84A4-403F-951E-BADF6B3AF4F8}"/>
              </a:ext>
            </a:extLst>
          </p:cNvPr>
          <p:cNvSpPr/>
          <p:nvPr/>
        </p:nvSpPr>
        <p:spPr>
          <a:xfrm>
            <a:off x="5029622" y="1266176"/>
            <a:ext cx="3924465" cy="719373"/>
          </a:xfrm>
          <a:prstGeom prst="homePlate">
            <a:avLst/>
          </a:prstGeom>
          <a:gradFill flip="none" rotWithShape="1">
            <a:gsLst>
              <a:gs pos="95000">
                <a:srgbClr val="E02929"/>
              </a:gs>
              <a:gs pos="0">
                <a:srgbClr val="8E000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6625D996-B7E7-406B-B36F-35C3C054F057}"/>
              </a:ext>
            </a:extLst>
          </p:cNvPr>
          <p:cNvSpPr/>
          <p:nvPr/>
        </p:nvSpPr>
        <p:spPr>
          <a:xfrm>
            <a:off x="5514323" y="1959006"/>
            <a:ext cx="4077344" cy="761813"/>
          </a:xfrm>
          <a:prstGeom prst="homePlate">
            <a:avLst/>
          </a:prstGeom>
          <a:gradFill flip="none" rotWithShape="1">
            <a:gsLst>
              <a:gs pos="95000">
                <a:srgbClr val="FFD345"/>
              </a:gs>
              <a:gs pos="0">
                <a:srgbClr val="86660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8" name="Arrow: Pentagon 77">
            <a:extLst>
              <a:ext uri="{FF2B5EF4-FFF2-40B4-BE49-F238E27FC236}">
                <a16:creationId xmlns:a16="http://schemas.microsoft.com/office/drawing/2014/main" id="{9400D610-F53B-4E5A-8DC5-AD23163E85EC}"/>
              </a:ext>
            </a:extLst>
          </p:cNvPr>
          <p:cNvSpPr/>
          <p:nvPr/>
        </p:nvSpPr>
        <p:spPr>
          <a:xfrm>
            <a:off x="6106622" y="2694816"/>
            <a:ext cx="3969746" cy="787297"/>
          </a:xfrm>
          <a:prstGeom prst="homePlate">
            <a:avLst/>
          </a:prstGeom>
          <a:gradFill flip="none" rotWithShape="1">
            <a:gsLst>
              <a:gs pos="95000">
                <a:srgbClr val="298ED9"/>
              </a:gs>
              <a:gs pos="0">
                <a:srgbClr val="003E6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6A65874F-D770-4DD4-B3C3-9EFFCE11E4E3}"/>
              </a:ext>
            </a:extLst>
          </p:cNvPr>
          <p:cNvSpPr/>
          <p:nvPr/>
        </p:nvSpPr>
        <p:spPr>
          <a:xfrm>
            <a:off x="6479820" y="3413649"/>
            <a:ext cx="4143565" cy="890644"/>
          </a:xfrm>
          <a:prstGeom prst="homePlate">
            <a:avLst/>
          </a:prstGeom>
          <a:gradFill flip="none" rotWithShape="1">
            <a:gsLst>
              <a:gs pos="95000">
                <a:srgbClr val="9356C0"/>
              </a:gs>
              <a:gs pos="0">
                <a:srgbClr val="441D6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0" name="Arrow: Pentagon 79">
            <a:extLst>
              <a:ext uri="{FF2B5EF4-FFF2-40B4-BE49-F238E27FC236}">
                <a16:creationId xmlns:a16="http://schemas.microsoft.com/office/drawing/2014/main" id="{76FA8872-A1F4-4800-9ABE-51C8AAE0C7A6}"/>
              </a:ext>
            </a:extLst>
          </p:cNvPr>
          <p:cNvSpPr/>
          <p:nvPr/>
        </p:nvSpPr>
        <p:spPr>
          <a:xfrm>
            <a:off x="7193220" y="4251959"/>
            <a:ext cx="4080717" cy="855618"/>
          </a:xfrm>
          <a:prstGeom prst="homePlate">
            <a:avLst/>
          </a:prstGeom>
          <a:gradFill flip="none" rotWithShape="1">
            <a:gsLst>
              <a:gs pos="95000">
                <a:srgbClr val="5F6B7D"/>
              </a:gs>
              <a:gs pos="0">
                <a:srgbClr val="333F5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C4349CE7-00FE-4586-9B24-BFBE05F2D835}"/>
              </a:ext>
            </a:extLst>
          </p:cNvPr>
          <p:cNvSpPr/>
          <p:nvPr/>
        </p:nvSpPr>
        <p:spPr>
          <a:xfrm rot="5400000">
            <a:off x="4422100" y="772789"/>
            <a:ext cx="914434" cy="1240665"/>
          </a:xfrm>
          <a:custGeom>
            <a:avLst/>
            <a:gdLst>
              <a:gd name="connsiteX0" fmla="*/ 0 w 777313"/>
              <a:gd name="connsiteY0" fmla="*/ 379355 h 758713"/>
              <a:gd name="connsiteX1" fmla="*/ 613764 w 777313"/>
              <a:gd name="connsiteY1" fmla="*/ 0 h 758713"/>
              <a:gd name="connsiteX2" fmla="*/ 777313 w 777313"/>
              <a:gd name="connsiteY2" fmla="*/ 379360 h 758713"/>
              <a:gd name="connsiteX3" fmla="*/ 613767 w 777313"/>
              <a:gd name="connsiteY3" fmla="*/ 758713 h 758713"/>
              <a:gd name="connsiteX4" fmla="*/ 0 w 777313"/>
              <a:gd name="connsiteY4" fmla="*/ 379355 h 758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313" h="758713">
                <a:moveTo>
                  <a:pt x="0" y="379355"/>
                </a:moveTo>
                <a:lnTo>
                  <a:pt x="613764" y="0"/>
                </a:lnTo>
                <a:lnTo>
                  <a:pt x="777313" y="379360"/>
                </a:lnTo>
                <a:lnTo>
                  <a:pt x="613767" y="758713"/>
                </a:lnTo>
                <a:lnTo>
                  <a:pt x="0" y="379355"/>
                </a:lnTo>
                <a:close/>
              </a:path>
            </a:pathLst>
          </a:custGeom>
          <a:solidFill>
            <a:srgbClr val="D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849CAAF-D756-4B7A-8338-99432A8F028F}"/>
              </a:ext>
            </a:extLst>
          </p:cNvPr>
          <p:cNvSpPr/>
          <p:nvPr/>
        </p:nvSpPr>
        <p:spPr>
          <a:xfrm rot="5400000">
            <a:off x="4467712" y="1118113"/>
            <a:ext cx="823211" cy="2504999"/>
          </a:xfrm>
          <a:custGeom>
            <a:avLst/>
            <a:gdLst>
              <a:gd name="connsiteX0" fmla="*/ 0 w 699769"/>
              <a:gd name="connsiteY0" fmla="*/ 228412 h 1531901"/>
              <a:gd name="connsiteX1" fmla="*/ 369552 w 699769"/>
              <a:gd name="connsiteY1" fmla="*/ 0 h 1531901"/>
              <a:gd name="connsiteX2" fmla="*/ 699769 w 699769"/>
              <a:gd name="connsiteY2" fmla="*/ 765955 h 1531901"/>
              <a:gd name="connsiteX3" fmla="*/ 369556 w 699769"/>
              <a:gd name="connsiteY3" fmla="*/ 1531901 h 1531901"/>
              <a:gd name="connsiteX4" fmla="*/ 3 w 699769"/>
              <a:gd name="connsiteY4" fmla="*/ 1303488 h 1531901"/>
              <a:gd name="connsiteX5" fmla="*/ 231744 w 699769"/>
              <a:gd name="connsiteY5" fmla="*/ 765953 h 1531901"/>
              <a:gd name="connsiteX6" fmla="*/ 0 w 699769"/>
              <a:gd name="connsiteY6" fmla="*/ 228412 h 1531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769" h="1531901">
                <a:moveTo>
                  <a:pt x="0" y="228412"/>
                </a:moveTo>
                <a:lnTo>
                  <a:pt x="369552" y="0"/>
                </a:lnTo>
                <a:lnTo>
                  <a:pt x="699769" y="765955"/>
                </a:lnTo>
                <a:lnTo>
                  <a:pt x="369556" y="1531901"/>
                </a:lnTo>
                <a:lnTo>
                  <a:pt x="3" y="1303488"/>
                </a:lnTo>
                <a:lnTo>
                  <a:pt x="231744" y="765953"/>
                </a:lnTo>
                <a:lnTo>
                  <a:pt x="0" y="228412"/>
                </a:lnTo>
                <a:close/>
              </a:path>
            </a:pathLst>
          </a:custGeom>
          <a:solidFill>
            <a:srgbClr val="FFCA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6653E62-A00D-4A09-ADA3-CF2292D3BF0C}"/>
              </a:ext>
            </a:extLst>
          </p:cNvPr>
          <p:cNvSpPr/>
          <p:nvPr/>
        </p:nvSpPr>
        <p:spPr>
          <a:xfrm rot="5400000">
            <a:off x="4325869" y="1304161"/>
            <a:ext cx="1106895" cy="3888209"/>
          </a:xfrm>
          <a:custGeom>
            <a:avLst/>
            <a:gdLst>
              <a:gd name="connsiteX0" fmla="*/ 0 w 940915"/>
              <a:gd name="connsiteY0" fmla="*/ 264761 h 2377786"/>
              <a:gd name="connsiteX1" fmla="*/ 428361 w 940915"/>
              <a:gd name="connsiteY1" fmla="*/ 0 h 2377786"/>
              <a:gd name="connsiteX2" fmla="*/ 940915 w 940915"/>
              <a:gd name="connsiteY2" fmla="*/ 1188894 h 2377786"/>
              <a:gd name="connsiteX3" fmla="*/ 428362 w 940915"/>
              <a:gd name="connsiteY3" fmla="*/ 2377786 h 2377786"/>
              <a:gd name="connsiteX4" fmla="*/ 3 w 940915"/>
              <a:gd name="connsiteY4" fmla="*/ 2113025 h 2377786"/>
              <a:gd name="connsiteX5" fmla="*/ 398412 w 940915"/>
              <a:gd name="connsiteY5" fmla="*/ 1188897 h 2377786"/>
              <a:gd name="connsiteX6" fmla="*/ 0 w 940915"/>
              <a:gd name="connsiteY6" fmla="*/ 264761 h 237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0915" h="2377786">
                <a:moveTo>
                  <a:pt x="0" y="264761"/>
                </a:moveTo>
                <a:lnTo>
                  <a:pt x="428361" y="0"/>
                </a:lnTo>
                <a:lnTo>
                  <a:pt x="940915" y="1188894"/>
                </a:lnTo>
                <a:lnTo>
                  <a:pt x="428362" y="2377786"/>
                </a:lnTo>
                <a:lnTo>
                  <a:pt x="3" y="2113025"/>
                </a:lnTo>
                <a:lnTo>
                  <a:pt x="398412" y="1188897"/>
                </a:lnTo>
                <a:lnTo>
                  <a:pt x="0" y="264761"/>
                </a:lnTo>
                <a:close/>
              </a:path>
            </a:pathLst>
          </a:custGeom>
          <a:solidFill>
            <a:srgbClr val="007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E88964F-28BC-49F5-8ED4-5BF363E071AE}"/>
              </a:ext>
            </a:extLst>
          </p:cNvPr>
          <p:cNvSpPr/>
          <p:nvPr/>
        </p:nvSpPr>
        <p:spPr>
          <a:xfrm rot="5400000">
            <a:off x="4160322" y="1504005"/>
            <a:ext cx="1437988" cy="5429604"/>
          </a:xfrm>
          <a:custGeom>
            <a:avLst/>
            <a:gdLst>
              <a:gd name="connsiteX0" fmla="*/ 0 w 1222360"/>
              <a:gd name="connsiteY0" fmla="*/ 313128 h 3320407"/>
              <a:gd name="connsiteX1" fmla="*/ 506614 w 1222360"/>
              <a:gd name="connsiteY1" fmla="*/ 0 h 3320407"/>
              <a:gd name="connsiteX2" fmla="*/ 1222360 w 1222360"/>
              <a:gd name="connsiteY2" fmla="*/ 1660209 h 3320407"/>
              <a:gd name="connsiteX3" fmla="*/ 506618 w 1222360"/>
              <a:gd name="connsiteY3" fmla="*/ 3320407 h 3320407"/>
              <a:gd name="connsiteX4" fmla="*/ 1 w 1222360"/>
              <a:gd name="connsiteY4" fmla="*/ 3007276 h 3320407"/>
              <a:gd name="connsiteX5" fmla="*/ 580749 w 1222360"/>
              <a:gd name="connsiteY5" fmla="*/ 1660203 h 3320407"/>
              <a:gd name="connsiteX6" fmla="*/ 0 w 1222360"/>
              <a:gd name="connsiteY6" fmla="*/ 313128 h 332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2360" h="3320407">
                <a:moveTo>
                  <a:pt x="0" y="313128"/>
                </a:moveTo>
                <a:lnTo>
                  <a:pt x="506614" y="0"/>
                </a:lnTo>
                <a:lnTo>
                  <a:pt x="1222360" y="1660209"/>
                </a:lnTo>
                <a:lnTo>
                  <a:pt x="506618" y="3320407"/>
                </a:lnTo>
                <a:lnTo>
                  <a:pt x="1" y="3007276"/>
                </a:lnTo>
                <a:lnTo>
                  <a:pt x="580749" y="1660203"/>
                </a:lnTo>
                <a:lnTo>
                  <a:pt x="0" y="313128"/>
                </a:lnTo>
                <a:close/>
              </a:path>
            </a:pathLst>
          </a:custGeom>
          <a:solidFill>
            <a:srgbClr val="7E3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C5146900-7CBC-473E-8061-41A951AB7F64}"/>
              </a:ext>
            </a:extLst>
          </p:cNvPr>
          <p:cNvSpPr/>
          <p:nvPr/>
        </p:nvSpPr>
        <p:spPr>
          <a:xfrm rot="5400000">
            <a:off x="3998861" y="1734913"/>
            <a:ext cx="1760913" cy="7084816"/>
          </a:xfrm>
          <a:custGeom>
            <a:avLst/>
            <a:gdLst>
              <a:gd name="connsiteX0" fmla="*/ 0 w 1496862"/>
              <a:gd name="connsiteY0" fmla="*/ 347932 h 4332631"/>
              <a:gd name="connsiteX1" fmla="*/ 562923 w 1496862"/>
              <a:gd name="connsiteY1" fmla="*/ 0 h 4332631"/>
              <a:gd name="connsiteX2" fmla="*/ 1496862 w 1496862"/>
              <a:gd name="connsiteY2" fmla="*/ 2166317 h 4332631"/>
              <a:gd name="connsiteX3" fmla="*/ 562924 w 1496862"/>
              <a:gd name="connsiteY3" fmla="*/ 4332631 h 4332631"/>
              <a:gd name="connsiteX4" fmla="*/ 4 w 1496862"/>
              <a:gd name="connsiteY4" fmla="*/ 3984701 h 4332631"/>
              <a:gd name="connsiteX5" fmla="*/ 783941 w 1496862"/>
              <a:gd name="connsiteY5" fmla="*/ 2166321 h 4332631"/>
              <a:gd name="connsiteX6" fmla="*/ 0 w 1496862"/>
              <a:gd name="connsiteY6" fmla="*/ 347932 h 433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6862" h="4332631">
                <a:moveTo>
                  <a:pt x="0" y="347932"/>
                </a:moveTo>
                <a:lnTo>
                  <a:pt x="562923" y="0"/>
                </a:lnTo>
                <a:lnTo>
                  <a:pt x="1496862" y="2166317"/>
                </a:lnTo>
                <a:lnTo>
                  <a:pt x="562924" y="4332631"/>
                </a:lnTo>
                <a:lnTo>
                  <a:pt x="4" y="3984701"/>
                </a:lnTo>
                <a:lnTo>
                  <a:pt x="783941" y="2166321"/>
                </a:lnTo>
                <a:lnTo>
                  <a:pt x="0" y="347932"/>
                </a:lnTo>
                <a:close/>
              </a:path>
            </a:pathLst>
          </a:custGeom>
          <a:solidFill>
            <a:srgbClr val="404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ABB457F-D5D4-4243-B9DD-B7BF36AB01BB}"/>
              </a:ext>
            </a:extLst>
          </p:cNvPr>
          <p:cNvSpPr/>
          <p:nvPr/>
        </p:nvSpPr>
        <p:spPr>
          <a:xfrm rot="5400000">
            <a:off x="739944" y="1530669"/>
            <a:ext cx="4734136" cy="3544607"/>
          </a:xfrm>
          <a:custGeom>
            <a:avLst/>
            <a:gdLst>
              <a:gd name="connsiteX0" fmla="*/ 3460965 w 4734136"/>
              <a:gd name="connsiteY0" fmla="*/ 2975664 h 3544607"/>
              <a:gd name="connsiteX1" fmla="*/ 3973929 w 4734136"/>
              <a:gd name="connsiteY1" fmla="*/ 1321757 h 3544607"/>
              <a:gd name="connsiteX2" fmla="*/ 4734136 w 4734136"/>
              <a:gd name="connsiteY2" fmla="*/ 1574770 h 3544607"/>
              <a:gd name="connsiteX3" fmla="*/ 4123186 w 4734136"/>
              <a:gd name="connsiteY3" fmla="*/ 3544607 h 3544607"/>
              <a:gd name="connsiteX4" fmla="*/ 2563910 w 4734136"/>
              <a:gd name="connsiteY4" fmla="*/ 2204963 h 3544607"/>
              <a:gd name="connsiteX5" fmla="*/ 2944140 w 4734136"/>
              <a:gd name="connsiteY5" fmla="*/ 979021 h 3544607"/>
              <a:gd name="connsiteX6" fmla="*/ 3628312 w 4734136"/>
              <a:gd name="connsiteY6" fmla="*/ 1206728 h 3544607"/>
              <a:gd name="connsiteX7" fmla="*/ 3159896 w 4734136"/>
              <a:gd name="connsiteY7" fmla="*/ 2717002 h 3544607"/>
              <a:gd name="connsiteX8" fmla="*/ 1758917 w 4734136"/>
              <a:gd name="connsiteY8" fmla="*/ 1513361 h 3544607"/>
              <a:gd name="connsiteX9" fmla="*/ 2020036 w 4734136"/>
              <a:gd name="connsiteY9" fmla="*/ 671460 h 3544607"/>
              <a:gd name="connsiteX10" fmla="*/ 2598522 w 4734136"/>
              <a:gd name="connsiteY10" fmla="*/ 863992 h 3544607"/>
              <a:gd name="connsiteX11" fmla="*/ 2262840 w 4734136"/>
              <a:gd name="connsiteY11" fmla="*/ 1946304 h 3544607"/>
              <a:gd name="connsiteX12" fmla="*/ 1023106 w 4734136"/>
              <a:gd name="connsiteY12" fmla="*/ 881193 h 3544607"/>
              <a:gd name="connsiteX13" fmla="*/ 1175349 w 4734136"/>
              <a:gd name="connsiteY13" fmla="*/ 390330 h 3544607"/>
              <a:gd name="connsiteX14" fmla="*/ 1674419 w 4734136"/>
              <a:gd name="connsiteY14" fmla="*/ 556431 h 3544607"/>
              <a:gd name="connsiteX15" fmla="*/ 1457850 w 4734136"/>
              <a:gd name="connsiteY15" fmla="*/ 1254698 h 3544607"/>
              <a:gd name="connsiteX16" fmla="*/ 0 w 4734136"/>
              <a:gd name="connsiteY16" fmla="*/ 2197 h 3544607"/>
              <a:gd name="connsiteX17" fmla="*/ 2558 w 4734136"/>
              <a:gd name="connsiteY17" fmla="*/ 0 h 3544607"/>
              <a:gd name="connsiteX18" fmla="*/ 829733 w 4734136"/>
              <a:gd name="connsiteY18" fmla="*/ 275301 h 3544607"/>
              <a:gd name="connsiteX19" fmla="*/ 722038 w 4734136"/>
              <a:gd name="connsiteY19" fmla="*/ 622532 h 354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734136" h="3544607">
                <a:moveTo>
                  <a:pt x="3460965" y="2975664"/>
                </a:moveTo>
                <a:lnTo>
                  <a:pt x="3973929" y="1321757"/>
                </a:lnTo>
                <a:lnTo>
                  <a:pt x="4734136" y="1574770"/>
                </a:lnTo>
                <a:lnTo>
                  <a:pt x="4123186" y="3544607"/>
                </a:lnTo>
                <a:close/>
                <a:moveTo>
                  <a:pt x="2563910" y="2204963"/>
                </a:moveTo>
                <a:lnTo>
                  <a:pt x="2944140" y="979021"/>
                </a:lnTo>
                <a:lnTo>
                  <a:pt x="3628312" y="1206728"/>
                </a:lnTo>
                <a:lnTo>
                  <a:pt x="3159896" y="2717002"/>
                </a:lnTo>
                <a:close/>
                <a:moveTo>
                  <a:pt x="1758917" y="1513361"/>
                </a:moveTo>
                <a:lnTo>
                  <a:pt x="2020036" y="671460"/>
                </a:lnTo>
                <a:lnTo>
                  <a:pt x="2598522" y="863992"/>
                </a:lnTo>
                <a:lnTo>
                  <a:pt x="2262840" y="1946304"/>
                </a:lnTo>
                <a:close/>
                <a:moveTo>
                  <a:pt x="1023106" y="881193"/>
                </a:moveTo>
                <a:lnTo>
                  <a:pt x="1175349" y="390330"/>
                </a:lnTo>
                <a:lnTo>
                  <a:pt x="1674419" y="556431"/>
                </a:lnTo>
                <a:lnTo>
                  <a:pt x="1457850" y="1254698"/>
                </a:lnTo>
                <a:close/>
                <a:moveTo>
                  <a:pt x="0" y="2197"/>
                </a:moveTo>
                <a:lnTo>
                  <a:pt x="2558" y="0"/>
                </a:lnTo>
                <a:lnTo>
                  <a:pt x="829733" y="275301"/>
                </a:lnTo>
                <a:lnTo>
                  <a:pt x="722038" y="622532"/>
                </a:lnTo>
                <a:close/>
              </a:path>
            </a:pathLst>
          </a:cu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0396439-81CB-40DC-8315-D77D661B0B65}"/>
              </a:ext>
            </a:extLst>
          </p:cNvPr>
          <p:cNvSpPr/>
          <p:nvPr/>
        </p:nvSpPr>
        <p:spPr>
          <a:xfrm rot="5400000">
            <a:off x="4732265" y="1080063"/>
            <a:ext cx="914434" cy="626120"/>
          </a:xfrm>
          <a:custGeom>
            <a:avLst/>
            <a:gdLst>
              <a:gd name="connsiteX0" fmla="*/ 0 w 914434"/>
              <a:gd name="connsiteY0" fmla="*/ 620331 h 626120"/>
              <a:gd name="connsiteX1" fmla="*/ 722034 w 914434"/>
              <a:gd name="connsiteY1" fmla="*/ 0 h 626120"/>
              <a:gd name="connsiteX2" fmla="*/ 914434 w 914434"/>
              <a:gd name="connsiteY2" fmla="*/ 620340 h 626120"/>
              <a:gd name="connsiteX3" fmla="*/ 912641 w 914434"/>
              <a:gd name="connsiteY3" fmla="*/ 626120 h 626120"/>
              <a:gd name="connsiteX4" fmla="*/ 6738 w 914434"/>
              <a:gd name="connsiteY4" fmla="*/ 626120 h 626120"/>
              <a:gd name="connsiteX5" fmla="*/ 0 w 914434"/>
              <a:gd name="connsiteY5" fmla="*/ 620331 h 62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34" h="626120">
                <a:moveTo>
                  <a:pt x="0" y="620331"/>
                </a:moveTo>
                <a:lnTo>
                  <a:pt x="722034" y="0"/>
                </a:lnTo>
                <a:lnTo>
                  <a:pt x="914434" y="620340"/>
                </a:lnTo>
                <a:lnTo>
                  <a:pt x="912641" y="626120"/>
                </a:lnTo>
                <a:lnTo>
                  <a:pt x="6738" y="626120"/>
                </a:lnTo>
                <a:lnTo>
                  <a:pt x="0" y="620331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D23C8E11-375A-4598-A214-34E4D85C07EC}"/>
              </a:ext>
            </a:extLst>
          </p:cNvPr>
          <p:cNvSpPr/>
          <p:nvPr/>
        </p:nvSpPr>
        <p:spPr>
          <a:xfrm rot="5400000">
            <a:off x="5093961" y="1741470"/>
            <a:ext cx="823210" cy="1258287"/>
          </a:xfrm>
          <a:custGeom>
            <a:avLst/>
            <a:gdLst>
              <a:gd name="connsiteX0" fmla="*/ 0 w 823210"/>
              <a:gd name="connsiteY0" fmla="*/ 373504 h 1258287"/>
              <a:gd name="connsiteX1" fmla="*/ 434743 w 823210"/>
              <a:gd name="connsiteY1" fmla="*/ 0 h 1258287"/>
              <a:gd name="connsiteX2" fmla="*/ 823210 w 823210"/>
              <a:gd name="connsiteY2" fmla="*/ 1252508 h 1258287"/>
              <a:gd name="connsiteX3" fmla="*/ 821418 w 823210"/>
              <a:gd name="connsiteY3" fmla="*/ 1258287 h 1258287"/>
              <a:gd name="connsiteX4" fmla="*/ 270831 w 823210"/>
              <a:gd name="connsiteY4" fmla="*/ 1258287 h 1258287"/>
              <a:gd name="connsiteX5" fmla="*/ 272625 w 823210"/>
              <a:gd name="connsiteY5" fmla="*/ 1252504 h 1258287"/>
              <a:gd name="connsiteX6" fmla="*/ 0 w 823210"/>
              <a:gd name="connsiteY6" fmla="*/ 373504 h 125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3210" h="1258287">
                <a:moveTo>
                  <a:pt x="0" y="373504"/>
                </a:moveTo>
                <a:lnTo>
                  <a:pt x="434743" y="0"/>
                </a:lnTo>
                <a:lnTo>
                  <a:pt x="823210" y="1252508"/>
                </a:lnTo>
                <a:lnTo>
                  <a:pt x="821418" y="1258287"/>
                </a:lnTo>
                <a:lnTo>
                  <a:pt x="270831" y="1258287"/>
                </a:lnTo>
                <a:lnTo>
                  <a:pt x="272625" y="1252504"/>
                </a:lnTo>
                <a:lnTo>
                  <a:pt x="0" y="37350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562B652D-AB72-4028-86AC-FE699E723420}"/>
              </a:ext>
            </a:extLst>
          </p:cNvPr>
          <p:cNvSpPr/>
          <p:nvPr/>
        </p:nvSpPr>
        <p:spPr>
          <a:xfrm rot="5400000">
            <a:off x="5297921" y="2273321"/>
            <a:ext cx="1106895" cy="1949891"/>
          </a:xfrm>
          <a:custGeom>
            <a:avLst/>
            <a:gdLst>
              <a:gd name="connsiteX0" fmla="*/ 0 w 1106895"/>
              <a:gd name="connsiteY0" fmla="*/ 432943 h 1949891"/>
              <a:gd name="connsiteX1" fmla="*/ 503925 w 1106895"/>
              <a:gd name="connsiteY1" fmla="*/ 0 h 1949891"/>
              <a:gd name="connsiteX2" fmla="*/ 1106895 w 1106895"/>
              <a:gd name="connsiteY2" fmla="*/ 1944107 h 1949891"/>
              <a:gd name="connsiteX3" fmla="*/ 1105101 w 1106895"/>
              <a:gd name="connsiteY3" fmla="*/ 1949891 h 1949891"/>
              <a:gd name="connsiteX4" fmla="*/ 466900 w 1106895"/>
              <a:gd name="connsiteY4" fmla="*/ 1949891 h 1949891"/>
              <a:gd name="connsiteX5" fmla="*/ 468693 w 1106895"/>
              <a:gd name="connsiteY5" fmla="*/ 1944112 h 1949891"/>
              <a:gd name="connsiteX6" fmla="*/ 0 w 1106895"/>
              <a:gd name="connsiteY6" fmla="*/ 432943 h 194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6895" h="1949891">
                <a:moveTo>
                  <a:pt x="0" y="432943"/>
                </a:moveTo>
                <a:lnTo>
                  <a:pt x="503925" y="0"/>
                </a:lnTo>
                <a:lnTo>
                  <a:pt x="1106895" y="1944107"/>
                </a:lnTo>
                <a:lnTo>
                  <a:pt x="1105101" y="1949891"/>
                </a:lnTo>
                <a:lnTo>
                  <a:pt x="466900" y="1949891"/>
                </a:lnTo>
                <a:lnTo>
                  <a:pt x="468693" y="1944112"/>
                </a:lnTo>
                <a:lnTo>
                  <a:pt x="0" y="432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E660020-0C51-42C9-B00F-6D54C7166D27}"/>
              </a:ext>
            </a:extLst>
          </p:cNvPr>
          <p:cNvSpPr/>
          <p:nvPr/>
        </p:nvSpPr>
        <p:spPr>
          <a:xfrm rot="5400000">
            <a:off x="5517723" y="2858514"/>
            <a:ext cx="1437988" cy="2720588"/>
          </a:xfrm>
          <a:custGeom>
            <a:avLst/>
            <a:gdLst>
              <a:gd name="connsiteX0" fmla="*/ 0 w 1437988"/>
              <a:gd name="connsiteY0" fmla="*/ 512034 h 2720588"/>
              <a:gd name="connsiteX1" fmla="*/ 595982 w 1437988"/>
              <a:gd name="connsiteY1" fmla="*/ 0 h 2720588"/>
              <a:gd name="connsiteX2" fmla="*/ 1437988 w 1437988"/>
              <a:gd name="connsiteY2" fmla="*/ 2714812 h 2720588"/>
              <a:gd name="connsiteX3" fmla="*/ 1436196 w 1437988"/>
              <a:gd name="connsiteY3" fmla="*/ 2720588 h 2720588"/>
              <a:gd name="connsiteX4" fmla="*/ 681400 w 1437988"/>
              <a:gd name="connsiteY4" fmla="*/ 2720588 h 2720588"/>
              <a:gd name="connsiteX5" fmla="*/ 683195 w 1437988"/>
              <a:gd name="connsiteY5" fmla="*/ 2714802 h 2720588"/>
              <a:gd name="connsiteX6" fmla="*/ 0 w 1437988"/>
              <a:gd name="connsiteY6" fmla="*/ 512034 h 272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7988" h="2720588">
                <a:moveTo>
                  <a:pt x="0" y="512034"/>
                </a:moveTo>
                <a:lnTo>
                  <a:pt x="595982" y="0"/>
                </a:lnTo>
                <a:lnTo>
                  <a:pt x="1437988" y="2714812"/>
                </a:lnTo>
                <a:lnTo>
                  <a:pt x="1436196" y="2720588"/>
                </a:lnTo>
                <a:lnTo>
                  <a:pt x="681400" y="2720588"/>
                </a:lnTo>
                <a:lnTo>
                  <a:pt x="683195" y="2714802"/>
                </a:lnTo>
                <a:lnTo>
                  <a:pt x="0" y="512034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15930211-2C6A-4AB1-9A9D-910B3BC0D6CB}"/>
              </a:ext>
            </a:extLst>
          </p:cNvPr>
          <p:cNvSpPr/>
          <p:nvPr/>
        </p:nvSpPr>
        <p:spPr>
          <a:xfrm rot="5400000">
            <a:off x="5770065" y="3503224"/>
            <a:ext cx="1760913" cy="3548196"/>
          </a:xfrm>
          <a:custGeom>
            <a:avLst/>
            <a:gdLst>
              <a:gd name="connsiteX0" fmla="*/ 0 w 1760913"/>
              <a:gd name="connsiteY0" fmla="*/ 568947 h 3548196"/>
              <a:gd name="connsiteX1" fmla="*/ 662224 w 1760913"/>
              <a:gd name="connsiteY1" fmla="*/ 0 h 3548196"/>
              <a:gd name="connsiteX2" fmla="*/ 1760913 w 1760913"/>
              <a:gd name="connsiteY2" fmla="*/ 3542412 h 3548196"/>
              <a:gd name="connsiteX3" fmla="*/ 1759119 w 1760913"/>
              <a:gd name="connsiteY3" fmla="*/ 3548196 h 3548196"/>
              <a:gd name="connsiteX4" fmla="*/ 920438 w 1760913"/>
              <a:gd name="connsiteY4" fmla="*/ 3548196 h 3548196"/>
              <a:gd name="connsiteX5" fmla="*/ 922230 w 1760913"/>
              <a:gd name="connsiteY5" fmla="*/ 3542418 h 3548196"/>
              <a:gd name="connsiteX6" fmla="*/ 0 w 1760913"/>
              <a:gd name="connsiteY6" fmla="*/ 568947 h 354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0913" h="3548196">
                <a:moveTo>
                  <a:pt x="0" y="568947"/>
                </a:moveTo>
                <a:lnTo>
                  <a:pt x="662224" y="0"/>
                </a:lnTo>
                <a:lnTo>
                  <a:pt x="1760913" y="3542412"/>
                </a:lnTo>
                <a:lnTo>
                  <a:pt x="1759119" y="3548196"/>
                </a:lnTo>
                <a:lnTo>
                  <a:pt x="920438" y="3548196"/>
                </a:lnTo>
                <a:lnTo>
                  <a:pt x="922230" y="3542418"/>
                </a:lnTo>
                <a:lnTo>
                  <a:pt x="0" y="56894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84A21B6-DD18-4ACC-8EC4-9133E9DB9CC8}"/>
              </a:ext>
            </a:extLst>
          </p:cNvPr>
          <p:cNvSpPr/>
          <p:nvPr/>
        </p:nvSpPr>
        <p:spPr>
          <a:xfrm>
            <a:off x="1911254" y="4243232"/>
            <a:ext cx="5949950" cy="1084962"/>
          </a:xfrm>
          <a:custGeom>
            <a:avLst/>
            <a:gdLst>
              <a:gd name="connsiteX0" fmla="*/ 5211290 w 5949950"/>
              <a:gd name="connsiteY0" fmla="*/ 0 h 1084962"/>
              <a:gd name="connsiteX1" fmla="*/ 5949950 w 5949950"/>
              <a:gd name="connsiteY1" fmla="*/ 147097 h 1084962"/>
              <a:gd name="connsiteX2" fmla="*/ 2962275 w 5949950"/>
              <a:gd name="connsiteY2" fmla="*/ 1084962 h 1084962"/>
              <a:gd name="connsiteX3" fmla="*/ 0 w 5949950"/>
              <a:gd name="connsiteY3" fmla="*/ 153447 h 1084962"/>
              <a:gd name="connsiteX4" fmla="*/ 751999 w 5949950"/>
              <a:gd name="connsiteY4" fmla="*/ 798 h 1084962"/>
              <a:gd name="connsiteX5" fmla="*/ 2978430 w 5949950"/>
              <a:gd name="connsiteY5" fmla="*/ 700920 h 1084962"/>
              <a:gd name="connsiteX0" fmla="*/ 5211290 w 5949950"/>
              <a:gd name="connsiteY0" fmla="*/ 0 h 1084962"/>
              <a:gd name="connsiteX1" fmla="*/ 5949950 w 5949950"/>
              <a:gd name="connsiteY1" fmla="*/ 147097 h 1084962"/>
              <a:gd name="connsiteX2" fmla="*/ 2962275 w 5949950"/>
              <a:gd name="connsiteY2" fmla="*/ 1084962 h 1084962"/>
              <a:gd name="connsiteX3" fmla="*/ 0 w 5949950"/>
              <a:gd name="connsiteY3" fmla="*/ 153447 h 1084962"/>
              <a:gd name="connsiteX4" fmla="*/ 751999 w 5949950"/>
              <a:gd name="connsiteY4" fmla="*/ 798 h 1084962"/>
              <a:gd name="connsiteX5" fmla="*/ 2972080 w 5949950"/>
              <a:gd name="connsiteY5" fmla="*/ 694570 h 1084962"/>
              <a:gd name="connsiteX6" fmla="*/ 5211290 w 5949950"/>
              <a:gd name="connsiteY6" fmla="*/ 0 h 1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950" h="1084962">
                <a:moveTo>
                  <a:pt x="5211290" y="0"/>
                </a:moveTo>
                <a:lnTo>
                  <a:pt x="5949950" y="147097"/>
                </a:lnTo>
                <a:lnTo>
                  <a:pt x="2962275" y="1084962"/>
                </a:lnTo>
                <a:lnTo>
                  <a:pt x="0" y="153447"/>
                </a:lnTo>
                <a:lnTo>
                  <a:pt x="751999" y="798"/>
                </a:lnTo>
                <a:lnTo>
                  <a:pt x="2972080" y="694570"/>
                </a:lnTo>
                <a:lnTo>
                  <a:pt x="521129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D723B2D1-EA1D-4B01-88B3-93ABCB33E988}"/>
              </a:ext>
            </a:extLst>
          </p:cNvPr>
          <p:cNvSpPr/>
          <p:nvPr/>
        </p:nvSpPr>
        <p:spPr>
          <a:xfrm>
            <a:off x="2668261" y="3342134"/>
            <a:ext cx="4417349" cy="839186"/>
          </a:xfrm>
          <a:custGeom>
            <a:avLst/>
            <a:gdLst>
              <a:gd name="connsiteX0" fmla="*/ 3675670 w 4417349"/>
              <a:gd name="connsiteY0" fmla="*/ 0 h 839186"/>
              <a:gd name="connsiteX1" fmla="*/ 4417349 w 4417349"/>
              <a:gd name="connsiteY1" fmla="*/ 153433 h 839186"/>
              <a:gd name="connsiteX2" fmla="*/ 2201576 w 4417349"/>
              <a:gd name="connsiteY2" fmla="*/ 839186 h 839186"/>
              <a:gd name="connsiteX3" fmla="*/ 0 w 4417349"/>
              <a:gd name="connsiteY3" fmla="*/ 158172 h 839186"/>
              <a:gd name="connsiteX4" fmla="*/ 741044 w 4417349"/>
              <a:gd name="connsiteY4" fmla="*/ 2287 h 839186"/>
              <a:gd name="connsiteX5" fmla="*/ 2205033 w 4417349"/>
              <a:gd name="connsiteY5" fmla="*/ 455143 h 83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17349" h="839186">
                <a:moveTo>
                  <a:pt x="3675670" y="0"/>
                </a:moveTo>
                <a:lnTo>
                  <a:pt x="4417349" y="153433"/>
                </a:lnTo>
                <a:lnTo>
                  <a:pt x="2201576" y="839186"/>
                </a:lnTo>
                <a:lnTo>
                  <a:pt x="0" y="158172"/>
                </a:lnTo>
                <a:lnTo>
                  <a:pt x="741044" y="2287"/>
                </a:lnTo>
                <a:lnTo>
                  <a:pt x="2205033" y="455143"/>
                </a:lnTo>
                <a:close/>
              </a:path>
            </a:pathLst>
          </a:custGeom>
          <a:solidFill>
            <a:srgbClr val="441D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60298F09-798B-40E6-9CB9-13F81C64ED59}"/>
              </a:ext>
            </a:extLst>
          </p:cNvPr>
          <p:cNvSpPr/>
          <p:nvPr/>
        </p:nvSpPr>
        <p:spPr>
          <a:xfrm>
            <a:off x="3373924" y="2542275"/>
            <a:ext cx="3010785" cy="620455"/>
          </a:xfrm>
          <a:custGeom>
            <a:avLst/>
            <a:gdLst>
              <a:gd name="connsiteX0" fmla="*/ 742958 w 3010785"/>
              <a:gd name="connsiteY0" fmla="*/ 0 h 620455"/>
              <a:gd name="connsiteX1" fmla="*/ 1515087 w 3010785"/>
              <a:gd name="connsiteY1" fmla="*/ 238843 h 620455"/>
              <a:gd name="connsiteX2" fmla="*/ 2280452 w 3010785"/>
              <a:gd name="connsiteY2" fmla="*/ 1972 h 620455"/>
              <a:gd name="connsiteX3" fmla="*/ 3010785 w 3010785"/>
              <a:gd name="connsiteY3" fmla="*/ 153058 h 620455"/>
              <a:gd name="connsiteX4" fmla="*/ 1500555 w 3010785"/>
              <a:gd name="connsiteY4" fmla="*/ 620455 h 620455"/>
              <a:gd name="connsiteX5" fmla="*/ 0 w 3010785"/>
              <a:gd name="connsiteY5" fmla="*/ 156288 h 620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0785" h="620455">
                <a:moveTo>
                  <a:pt x="742958" y="0"/>
                </a:moveTo>
                <a:lnTo>
                  <a:pt x="1515087" y="238843"/>
                </a:lnTo>
                <a:lnTo>
                  <a:pt x="2280452" y="1972"/>
                </a:lnTo>
                <a:lnTo>
                  <a:pt x="3010785" y="153058"/>
                </a:lnTo>
                <a:lnTo>
                  <a:pt x="1500555" y="620455"/>
                </a:lnTo>
                <a:lnTo>
                  <a:pt x="0" y="156288"/>
                </a:lnTo>
                <a:close/>
              </a:path>
            </a:pathLst>
          </a:custGeom>
          <a:solidFill>
            <a:srgbClr val="003E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17BF662-B078-404E-8EE0-0922D29E2D48}"/>
              </a:ext>
            </a:extLst>
          </p:cNvPr>
          <p:cNvSpPr/>
          <p:nvPr/>
        </p:nvSpPr>
        <p:spPr>
          <a:xfrm>
            <a:off x="3986352" y="1801157"/>
            <a:ext cx="1790228" cy="430852"/>
          </a:xfrm>
          <a:custGeom>
            <a:avLst/>
            <a:gdLst>
              <a:gd name="connsiteX0" fmla="*/ 736152 w 1790228"/>
              <a:gd name="connsiteY0" fmla="*/ 0 h 430852"/>
              <a:gd name="connsiteX1" fmla="*/ 897000 w 1790228"/>
              <a:gd name="connsiteY1" fmla="*/ 49755 h 430852"/>
              <a:gd name="connsiteX2" fmla="*/ 1055037 w 1790228"/>
              <a:gd name="connsiteY2" fmla="*/ 845 h 430852"/>
              <a:gd name="connsiteX3" fmla="*/ 1790228 w 1790228"/>
              <a:gd name="connsiteY3" fmla="*/ 152936 h 430852"/>
              <a:gd name="connsiteX4" fmla="*/ 892237 w 1790228"/>
              <a:gd name="connsiteY4" fmla="*/ 430852 h 430852"/>
              <a:gd name="connsiteX5" fmla="*/ 0 w 1790228"/>
              <a:gd name="connsiteY5" fmla="*/ 154856 h 43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0228" h="430852">
                <a:moveTo>
                  <a:pt x="736152" y="0"/>
                </a:moveTo>
                <a:lnTo>
                  <a:pt x="897000" y="49755"/>
                </a:lnTo>
                <a:lnTo>
                  <a:pt x="1055037" y="845"/>
                </a:lnTo>
                <a:lnTo>
                  <a:pt x="1790228" y="152936"/>
                </a:lnTo>
                <a:lnTo>
                  <a:pt x="892237" y="430852"/>
                </a:lnTo>
                <a:lnTo>
                  <a:pt x="0" y="154856"/>
                </a:lnTo>
                <a:close/>
              </a:path>
            </a:pathLst>
          </a:custGeom>
          <a:solidFill>
            <a:srgbClr val="86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A52E06A-AA22-455E-A8DA-EF6B74CD5796}"/>
              </a:ext>
            </a:extLst>
          </p:cNvPr>
          <p:cNvSpPr/>
          <p:nvPr/>
        </p:nvSpPr>
        <p:spPr>
          <a:xfrm>
            <a:off x="4846390" y="857464"/>
            <a:ext cx="68744" cy="1047209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7A74038-4EC4-4885-A527-3F08124755C8}"/>
              </a:ext>
            </a:extLst>
          </p:cNvPr>
          <p:cNvSpPr/>
          <p:nvPr/>
        </p:nvSpPr>
        <p:spPr>
          <a:xfrm>
            <a:off x="4854124" y="2195889"/>
            <a:ext cx="54660" cy="606828"/>
          </a:xfrm>
          <a:prstGeom prst="ellipse">
            <a:avLst/>
          </a:prstGeom>
          <a:gradFill flip="none" rotWithShape="1">
            <a:gsLst>
              <a:gs pos="18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A84196D-D88A-4747-8F14-6D202313C61E}"/>
              </a:ext>
            </a:extLst>
          </p:cNvPr>
          <p:cNvSpPr/>
          <p:nvPr/>
        </p:nvSpPr>
        <p:spPr>
          <a:xfrm>
            <a:off x="4841119" y="3184572"/>
            <a:ext cx="54660" cy="606828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1F49946-74E7-4CF0-9CF5-DFF601384EBD}"/>
              </a:ext>
            </a:extLst>
          </p:cNvPr>
          <p:cNvSpPr/>
          <p:nvPr/>
        </p:nvSpPr>
        <p:spPr>
          <a:xfrm>
            <a:off x="4860474" y="4161636"/>
            <a:ext cx="54660" cy="766990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C6C7210-3643-4C6C-B744-BF738CAC2517}"/>
              </a:ext>
            </a:extLst>
          </p:cNvPr>
          <p:cNvSpPr/>
          <p:nvPr/>
        </p:nvSpPr>
        <p:spPr>
          <a:xfrm>
            <a:off x="4847547" y="5343808"/>
            <a:ext cx="54147" cy="813970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CBDD862-D835-40BA-BB21-A7832CB1A679}"/>
              </a:ext>
            </a:extLst>
          </p:cNvPr>
          <p:cNvSpPr/>
          <p:nvPr/>
        </p:nvSpPr>
        <p:spPr>
          <a:xfrm rot="17273457">
            <a:off x="3531359" y="4780795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42CCE53-DC7B-40C2-8583-AD9A798C6D68}"/>
              </a:ext>
            </a:extLst>
          </p:cNvPr>
          <p:cNvSpPr/>
          <p:nvPr/>
        </p:nvSpPr>
        <p:spPr>
          <a:xfrm rot="17273457">
            <a:off x="3882958" y="3735338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9A29726-D7B6-4622-9625-700683F59344}"/>
              </a:ext>
            </a:extLst>
          </p:cNvPr>
          <p:cNvSpPr/>
          <p:nvPr/>
        </p:nvSpPr>
        <p:spPr>
          <a:xfrm rot="17273457">
            <a:off x="4184073" y="2819597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389835A-8EB0-4EF1-9FA8-CC5B4E27C14F}"/>
              </a:ext>
            </a:extLst>
          </p:cNvPr>
          <p:cNvSpPr/>
          <p:nvPr/>
        </p:nvSpPr>
        <p:spPr>
          <a:xfrm rot="17273457">
            <a:off x="4473134" y="1971799"/>
            <a:ext cx="45719" cy="301656"/>
          </a:xfrm>
          <a:prstGeom prst="ellipse">
            <a:avLst/>
          </a:prstGeom>
          <a:gradFill flip="none" rotWithShape="1">
            <a:gsLst>
              <a:gs pos="33000">
                <a:schemeClr val="accent3">
                  <a:lumMod val="0"/>
                  <a:lumOff val="100000"/>
                  <a:alpha val="64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8296D8-10B9-4DC6-B62C-7B7063FFB149}"/>
              </a:ext>
            </a:extLst>
          </p:cNvPr>
          <p:cNvSpPr txBox="1"/>
          <p:nvPr/>
        </p:nvSpPr>
        <p:spPr>
          <a:xfrm>
            <a:off x="5933959" y="1394161"/>
            <a:ext cx="258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Dashboard</a:t>
            </a:r>
            <a:endParaRPr lang="en-US" sz="240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6D9E6E9-EA6A-4075-BE8B-4C4151C203BF}"/>
              </a:ext>
            </a:extLst>
          </p:cNvPr>
          <p:cNvSpPr txBox="1"/>
          <p:nvPr/>
        </p:nvSpPr>
        <p:spPr>
          <a:xfrm>
            <a:off x="6781812" y="1979242"/>
            <a:ext cx="258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000" dirty="0">
                <a:solidFill>
                  <a:schemeClr val="bg1"/>
                </a:solidFill>
              </a:rPr>
              <a:t> Claim Verification </a:t>
            </a:r>
            <a:endParaRPr lang="en-US" sz="200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4E8E57-F167-4B27-AA42-F5FB2603FDE0}"/>
              </a:ext>
            </a:extLst>
          </p:cNvPr>
          <p:cNvSpPr txBox="1"/>
          <p:nvPr/>
        </p:nvSpPr>
        <p:spPr>
          <a:xfrm rot="16200000">
            <a:off x="6109010" y="2029722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→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C7153E-F821-467C-A91F-B3AE0B58C469}"/>
              </a:ext>
            </a:extLst>
          </p:cNvPr>
          <p:cNvSpPr txBox="1"/>
          <p:nvPr/>
        </p:nvSpPr>
        <p:spPr>
          <a:xfrm>
            <a:off x="7316109" y="2811107"/>
            <a:ext cx="258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Classifier</a:t>
            </a:r>
            <a:endParaRPr lang="en-US" sz="240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7A88BFB-3A60-4F53-9EB8-7DF3B5804734}"/>
              </a:ext>
            </a:extLst>
          </p:cNvPr>
          <p:cNvSpPr txBox="1"/>
          <p:nvPr/>
        </p:nvSpPr>
        <p:spPr>
          <a:xfrm rot="16200000">
            <a:off x="6620381" y="2799568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→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1D99E22-1668-48B3-810D-31DD6E9E3901}"/>
              </a:ext>
            </a:extLst>
          </p:cNvPr>
          <p:cNvSpPr txBox="1"/>
          <p:nvPr/>
        </p:nvSpPr>
        <p:spPr>
          <a:xfrm>
            <a:off x="7477498" y="3593245"/>
            <a:ext cx="2582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NLP</a:t>
            </a:r>
            <a:endParaRPr lang="en-US" sz="2400" b="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6B29A24-501F-4947-8656-963C20696FA1}"/>
              </a:ext>
            </a:extLst>
          </p:cNvPr>
          <p:cNvSpPr txBox="1"/>
          <p:nvPr/>
        </p:nvSpPr>
        <p:spPr>
          <a:xfrm rot="16200000">
            <a:off x="7053800" y="3642940"/>
            <a:ext cx="85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b="0" dirty="0">
                <a:solidFill>
                  <a:schemeClr val="bg1"/>
                </a:solidFill>
              </a:rPr>
              <a:t>→</a:t>
            </a:r>
            <a:endParaRPr lang="en-US" sz="18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6C97B64-BA77-4FF2-B2AD-CDB273CF65EE}"/>
              </a:ext>
            </a:extLst>
          </p:cNvPr>
          <p:cNvSpPr txBox="1"/>
          <p:nvPr/>
        </p:nvSpPr>
        <p:spPr>
          <a:xfrm>
            <a:off x="8135921" y="4477667"/>
            <a:ext cx="326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solidFill>
                  <a:schemeClr val="bg1"/>
                </a:solidFill>
              </a:rPr>
              <a:t>Preprocessing</a:t>
            </a:r>
            <a:endParaRPr lang="en-US" sz="2400" spc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0DA0C37-5CEC-4F3E-8D9E-8617E8743FC1}"/>
              </a:ext>
            </a:extLst>
          </p:cNvPr>
          <p:cNvSpPr txBox="1"/>
          <p:nvPr/>
        </p:nvSpPr>
        <p:spPr>
          <a:xfrm rot="16200000">
            <a:off x="7345156" y="4426698"/>
            <a:ext cx="857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3200" b="0" dirty="0">
                <a:solidFill>
                  <a:schemeClr val="bg1"/>
                </a:solidFill>
              </a:rPr>
              <a:t>→</a:t>
            </a:r>
            <a:endParaRPr lang="en-US" sz="3200" b="0" spc="0" dirty="0">
              <a:solidFill>
                <a:schemeClr val="bg1"/>
              </a:solidFill>
              <a:effectLst/>
              <a:latin typeface="Akrobat ExtraLight" panose="000004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40A85F-9588-4062-9825-A57808E4AFF5}"/>
              </a:ext>
            </a:extLst>
          </p:cNvPr>
          <p:cNvSpPr txBox="1"/>
          <p:nvPr/>
        </p:nvSpPr>
        <p:spPr>
          <a:xfrm>
            <a:off x="126632" y="223229"/>
            <a:ext cx="5996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IN" sz="2400" dirty="0">
                <a:effectLst/>
              </a:rPr>
              <a:t>ARCHITECTURE DIAGRAM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8450F-F04B-C414-5ECE-6EDD1C1020D4}"/>
              </a:ext>
            </a:extLst>
          </p:cNvPr>
          <p:cNvSpPr txBox="1"/>
          <p:nvPr/>
        </p:nvSpPr>
        <p:spPr>
          <a:xfrm>
            <a:off x="5851368" y="261775"/>
            <a:ext cx="6576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→ Preprocessing → NLP → Classifier → Claim Verification → Dashboard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6443-010A-2E7B-3542-D3B13DDF0E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24" y="868963"/>
            <a:ext cx="3780650" cy="252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0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7775BBE-648E-43F5-9007-5144098B23ED}"/>
              </a:ext>
            </a:extLst>
          </p:cNvPr>
          <p:cNvSpPr/>
          <p:nvPr/>
        </p:nvSpPr>
        <p:spPr>
          <a:xfrm>
            <a:off x="2651108" y="5154495"/>
            <a:ext cx="6330984" cy="1407842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alpha val="0"/>
                </a:schemeClr>
              </a:gs>
              <a:gs pos="83000">
                <a:schemeClr val="tx1">
                  <a:lumMod val="75000"/>
                  <a:lumOff val="25000"/>
                  <a:alpha val="8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4BFD768-8016-44F5-A9AB-BFD03C3AD7CB}"/>
              </a:ext>
            </a:extLst>
          </p:cNvPr>
          <p:cNvSpPr/>
          <p:nvPr/>
        </p:nvSpPr>
        <p:spPr>
          <a:xfrm>
            <a:off x="5007992" y="5257839"/>
            <a:ext cx="3368138" cy="869324"/>
          </a:xfrm>
          <a:custGeom>
            <a:avLst/>
            <a:gdLst>
              <a:gd name="connsiteX0" fmla="*/ 1 w 3368138"/>
              <a:gd name="connsiteY0" fmla="*/ 0 h 869324"/>
              <a:gd name="connsiteX1" fmla="*/ 3368138 w 3368138"/>
              <a:gd name="connsiteY1" fmla="*/ 0 h 869324"/>
              <a:gd name="connsiteX2" fmla="*/ 3368138 w 3368138"/>
              <a:gd name="connsiteY2" fmla="*/ 579549 h 869324"/>
              <a:gd name="connsiteX3" fmla="*/ 1684069 w 3368138"/>
              <a:gd name="connsiteY3" fmla="*/ 869324 h 869324"/>
              <a:gd name="connsiteX4" fmla="*/ 0 w 3368138"/>
              <a:gd name="connsiteY4" fmla="*/ 579549 h 869324"/>
              <a:gd name="connsiteX5" fmla="*/ 1 w 3368138"/>
              <a:gd name="connsiteY5" fmla="*/ 579547 h 86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8138" h="869324">
                <a:moveTo>
                  <a:pt x="1" y="0"/>
                </a:moveTo>
                <a:lnTo>
                  <a:pt x="3368138" y="0"/>
                </a:lnTo>
                <a:lnTo>
                  <a:pt x="3368138" y="579549"/>
                </a:lnTo>
                <a:cubicBezTo>
                  <a:pt x="3368138" y="739587"/>
                  <a:pt x="2614155" y="869324"/>
                  <a:pt x="1684069" y="869324"/>
                </a:cubicBezTo>
                <a:cubicBezTo>
                  <a:pt x="753983" y="869324"/>
                  <a:pt x="0" y="739587"/>
                  <a:pt x="0" y="579549"/>
                </a:cubicBezTo>
                <a:lnTo>
                  <a:pt x="1" y="579547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97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890664-597D-4C09-B778-C5E5266D4AF3}"/>
              </a:ext>
            </a:extLst>
          </p:cNvPr>
          <p:cNvSpPr/>
          <p:nvPr/>
        </p:nvSpPr>
        <p:spPr>
          <a:xfrm>
            <a:off x="5007995" y="4968066"/>
            <a:ext cx="3368137" cy="579549"/>
          </a:xfrm>
          <a:prstGeom prst="ellipse">
            <a:avLst/>
          </a:prstGeom>
          <a:gradFill>
            <a:gsLst>
              <a:gs pos="0">
                <a:srgbClr val="BFA8D6"/>
              </a:gs>
              <a:gs pos="83000">
                <a:srgbClr val="9690C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36DD7C-B9FD-48FE-855D-CBF632F36687}"/>
              </a:ext>
            </a:extLst>
          </p:cNvPr>
          <p:cNvGrpSpPr/>
          <p:nvPr/>
        </p:nvGrpSpPr>
        <p:grpSpPr>
          <a:xfrm>
            <a:off x="3759921" y="4163837"/>
            <a:ext cx="4113358" cy="1516085"/>
            <a:chOff x="1378854" y="1712890"/>
            <a:chExt cx="4113358" cy="15160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7929EE-F623-4D68-B999-8A57445141F6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AFE90E-C1D4-4256-B934-A55DF55FB62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4663EA-60CB-4EE2-9E85-F2D341F86A3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4C8D8"/>
                </a:gs>
                <a:gs pos="83000">
                  <a:srgbClr val="7AB5D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E2B354-A6D0-437A-84FD-ED864F66F4CD}"/>
              </a:ext>
            </a:extLst>
          </p:cNvPr>
          <p:cNvGrpSpPr/>
          <p:nvPr/>
        </p:nvGrpSpPr>
        <p:grpSpPr>
          <a:xfrm>
            <a:off x="2772391" y="3346723"/>
            <a:ext cx="4113358" cy="1516085"/>
            <a:chOff x="1378854" y="1712890"/>
            <a:chExt cx="4113358" cy="151608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AF46755-C5FA-478A-B98C-DCDB19ABA69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C3B6C6-1BBE-4C10-B4FE-BC33717D09C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F740B4-1491-4ACE-92C1-9717DE5BE640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9CD4AD"/>
                </a:gs>
                <a:gs pos="83000">
                  <a:srgbClr val="82C79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4A1C59-02AE-4A76-BE2D-33698BA9DD33}"/>
              </a:ext>
            </a:extLst>
          </p:cNvPr>
          <p:cNvGrpSpPr/>
          <p:nvPr/>
        </p:nvGrpSpPr>
        <p:grpSpPr>
          <a:xfrm>
            <a:off x="2042875" y="2507831"/>
            <a:ext cx="4113358" cy="1516085"/>
            <a:chOff x="1378854" y="1712890"/>
            <a:chExt cx="4113358" cy="15160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6BB0EC-259F-49D9-8C8B-6ADF711BBDDC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E383D8-5E40-47CF-AD67-475E16BFEDA1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BD7D6FF-B2AE-42C5-8B17-5AA99BB95AF2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2EA84"/>
                </a:gs>
                <a:gs pos="83000">
                  <a:srgbClr val="FFC748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860D49-B31F-4D2D-8179-EF7705E09CC6}"/>
              </a:ext>
            </a:extLst>
          </p:cNvPr>
          <p:cNvGrpSpPr/>
          <p:nvPr/>
        </p:nvGrpSpPr>
        <p:grpSpPr>
          <a:xfrm>
            <a:off x="1378854" y="1712890"/>
            <a:ext cx="4113358" cy="1516085"/>
            <a:chOff x="1378854" y="1712890"/>
            <a:chExt cx="4113358" cy="151608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D01F09-8E33-4950-A9C1-AE03EDE890CB}"/>
                </a:ext>
              </a:extLst>
            </p:cNvPr>
            <p:cNvSpPr/>
            <p:nvPr/>
          </p:nvSpPr>
          <p:spPr>
            <a:xfrm>
              <a:off x="1378854" y="1928282"/>
              <a:ext cx="4113358" cy="1300693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EB018CF-3BA4-4270-A259-13391C75866E}"/>
                </a:ext>
              </a:extLst>
            </p:cNvPr>
            <p:cNvSpPr/>
            <p:nvPr/>
          </p:nvSpPr>
          <p:spPr>
            <a:xfrm>
              <a:off x="1654620" y="2002663"/>
              <a:ext cx="3368138" cy="869324"/>
            </a:xfrm>
            <a:custGeom>
              <a:avLst/>
              <a:gdLst>
                <a:gd name="connsiteX0" fmla="*/ 1 w 3368138"/>
                <a:gd name="connsiteY0" fmla="*/ 0 h 869324"/>
                <a:gd name="connsiteX1" fmla="*/ 3368138 w 3368138"/>
                <a:gd name="connsiteY1" fmla="*/ 0 h 869324"/>
                <a:gd name="connsiteX2" fmla="*/ 3368138 w 3368138"/>
                <a:gd name="connsiteY2" fmla="*/ 579549 h 869324"/>
                <a:gd name="connsiteX3" fmla="*/ 1684069 w 3368138"/>
                <a:gd name="connsiteY3" fmla="*/ 869324 h 869324"/>
                <a:gd name="connsiteX4" fmla="*/ 0 w 3368138"/>
                <a:gd name="connsiteY4" fmla="*/ 579549 h 869324"/>
                <a:gd name="connsiteX5" fmla="*/ 1 w 3368138"/>
                <a:gd name="connsiteY5" fmla="*/ 579547 h 869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138" h="869324">
                  <a:moveTo>
                    <a:pt x="1" y="0"/>
                  </a:moveTo>
                  <a:lnTo>
                    <a:pt x="3368138" y="0"/>
                  </a:lnTo>
                  <a:lnTo>
                    <a:pt x="3368138" y="579549"/>
                  </a:lnTo>
                  <a:cubicBezTo>
                    <a:pt x="3368138" y="739587"/>
                    <a:pt x="2614155" y="869324"/>
                    <a:pt x="1684069" y="869324"/>
                  </a:cubicBezTo>
                  <a:cubicBezTo>
                    <a:pt x="753983" y="869324"/>
                    <a:pt x="0" y="739587"/>
                    <a:pt x="0" y="579549"/>
                  </a:cubicBezTo>
                  <a:lnTo>
                    <a:pt x="1" y="57954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3245D02-66B5-459D-8C6E-7384E4B8FEB1}"/>
                </a:ext>
              </a:extLst>
            </p:cNvPr>
            <p:cNvSpPr/>
            <p:nvPr/>
          </p:nvSpPr>
          <p:spPr>
            <a:xfrm>
              <a:off x="1654623" y="1712890"/>
              <a:ext cx="3368137" cy="579549"/>
            </a:xfrm>
            <a:prstGeom prst="ellipse">
              <a:avLst/>
            </a:prstGeom>
            <a:gradFill>
              <a:gsLst>
                <a:gs pos="0">
                  <a:srgbClr val="FDA28F"/>
                </a:gs>
                <a:gs pos="83000">
                  <a:srgbClr val="FF4F65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BD52997-1B22-4724-BD66-F1D4E4252643}"/>
              </a:ext>
            </a:extLst>
          </p:cNvPr>
          <p:cNvSpPr txBox="1"/>
          <p:nvPr/>
        </p:nvSpPr>
        <p:spPr>
          <a:xfrm>
            <a:off x="2533610" y="2295730"/>
            <a:ext cx="171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Users Table</a:t>
            </a:r>
            <a:endParaRPr lang="en-US" sz="2400" b="1" dirty="0">
              <a:solidFill>
                <a:srgbClr val="FF0000"/>
              </a:solidFill>
              <a:latin typeface="Economica" panose="0200050604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5E101A-BB87-4252-A31C-6C3A73274039}"/>
              </a:ext>
            </a:extLst>
          </p:cNvPr>
          <p:cNvSpPr txBox="1"/>
          <p:nvPr/>
        </p:nvSpPr>
        <p:spPr>
          <a:xfrm>
            <a:off x="2964136" y="3120274"/>
            <a:ext cx="1879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Articles Table</a:t>
            </a:r>
            <a:endParaRPr lang="en-US" sz="2400" b="1" dirty="0">
              <a:solidFill>
                <a:srgbClr val="FFC000"/>
              </a:solidFill>
              <a:latin typeface="Economica" panose="0200050604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9FB75D-F25C-4022-85AD-22F7A7C26589}"/>
              </a:ext>
            </a:extLst>
          </p:cNvPr>
          <p:cNvSpPr txBox="1"/>
          <p:nvPr/>
        </p:nvSpPr>
        <p:spPr>
          <a:xfrm>
            <a:off x="3435533" y="3927522"/>
            <a:ext cx="2485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Processed Text Table</a:t>
            </a:r>
            <a:b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768702-B16E-4122-A0C1-CA19468292D0}"/>
              </a:ext>
            </a:extLst>
          </p:cNvPr>
          <p:cNvSpPr txBox="1"/>
          <p:nvPr/>
        </p:nvSpPr>
        <p:spPr>
          <a:xfrm>
            <a:off x="4743104" y="4768594"/>
            <a:ext cx="2061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Entities Table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FAB545-90DE-470B-BE1B-0463DAA9A423}"/>
              </a:ext>
            </a:extLst>
          </p:cNvPr>
          <p:cNvSpPr txBox="1"/>
          <p:nvPr/>
        </p:nvSpPr>
        <p:spPr>
          <a:xfrm>
            <a:off x="5147576" y="5581243"/>
            <a:ext cx="322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944BC9"/>
                </a:solidFill>
              </a:rPr>
              <a:t>Verification Results Table</a:t>
            </a:r>
            <a:endParaRPr lang="en-US" sz="2000" b="1" dirty="0">
              <a:solidFill>
                <a:srgbClr val="944BC9"/>
              </a:solidFill>
              <a:latin typeface="Economica" panose="0200050604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15C311-120F-45AE-8FFF-BE15DBA48121}"/>
              </a:ext>
            </a:extLst>
          </p:cNvPr>
          <p:cNvSpPr txBox="1"/>
          <p:nvPr/>
        </p:nvSpPr>
        <p:spPr>
          <a:xfrm>
            <a:off x="5007992" y="1287495"/>
            <a:ext cx="28970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5050"/>
                </a:solidFill>
              </a:rPr>
              <a:t>Stores user account details such as user ID, name, email, password, and role (user/admin).</a:t>
            </a:r>
            <a:endParaRPr lang="en-US" sz="1400" b="1" dirty="0">
              <a:solidFill>
                <a:srgbClr val="FF5050"/>
              </a:solidFill>
              <a:latin typeface="Economica" panose="0200050604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6D8D4-5654-47C0-8E47-72D2E797950F}"/>
              </a:ext>
            </a:extLst>
          </p:cNvPr>
          <p:cNvSpPr txBox="1"/>
          <p:nvPr/>
        </p:nvSpPr>
        <p:spPr>
          <a:xfrm>
            <a:off x="5878524" y="2166080"/>
            <a:ext cx="20497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Stores news articles or social media content submitted by users for analysis.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BA3A9-0627-4353-B946-697D29F9B28A}"/>
              </a:ext>
            </a:extLst>
          </p:cNvPr>
          <p:cNvSpPr txBox="1"/>
          <p:nvPr/>
        </p:nvSpPr>
        <p:spPr>
          <a:xfrm>
            <a:off x="7615265" y="4085651"/>
            <a:ext cx="2620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Stores named entities (people, places, organizations) extracted from the text using NER.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Economica" panose="0200050604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048D8A-67F8-41EA-A935-FAAF58585119}"/>
              </a:ext>
            </a:extLst>
          </p:cNvPr>
          <p:cNvSpPr txBox="1"/>
          <p:nvPr/>
        </p:nvSpPr>
        <p:spPr>
          <a:xfrm>
            <a:off x="8580696" y="4996377"/>
            <a:ext cx="2620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Stores the final analysis results including credibility score, classification, and verification sources.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02982-D25C-47F4-A621-FF1AC55FBF61}"/>
              </a:ext>
            </a:extLst>
          </p:cNvPr>
          <p:cNvSpPr txBox="1"/>
          <p:nvPr/>
        </p:nvSpPr>
        <p:spPr>
          <a:xfrm>
            <a:off x="6164814" y="178481"/>
            <a:ext cx="5377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Database / Schema Overview</a:t>
            </a:r>
            <a:endParaRPr 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Arca Majora 3 Bold" panose="00000800000000000000" pitchFamily="50" charset="0"/>
              <a:ea typeface="Adobe Gothic Std B" panose="020B0800000000000000" pitchFamily="34" charset="-128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15F7ED1C-B1A0-875F-AF3F-6B00E2C60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770" y="3087380"/>
            <a:ext cx="291842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Stores cleaned and preprocessed text after NLP steps like tokenization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stopword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removal.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49C272-12D3-38DE-802F-BB276F912E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57" y="675724"/>
            <a:ext cx="3757674" cy="250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7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7338ED-1796-412A-9724-BCCD8DC4707F}"/>
              </a:ext>
            </a:extLst>
          </p:cNvPr>
          <p:cNvSpPr/>
          <p:nvPr/>
        </p:nvSpPr>
        <p:spPr>
          <a:xfrm>
            <a:off x="5486399" y="315531"/>
            <a:ext cx="1222420" cy="6226936"/>
          </a:xfrm>
          <a:custGeom>
            <a:avLst/>
            <a:gdLst>
              <a:gd name="connsiteX0" fmla="*/ 609600 w 1222420"/>
              <a:gd name="connsiteY0" fmla="*/ 199622 h 6226936"/>
              <a:gd name="connsiteX1" fmla="*/ 163132 w 1222420"/>
              <a:gd name="connsiteY1" fmla="*/ 646090 h 6226936"/>
              <a:gd name="connsiteX2" fmla="*/ 163132 w 1222420"/>
              <a:gd name="connsiteY2" fmla="*/ 5574405 h 6226936"/>
              <a:gd name="connsiteX3" fmla="*/ 609600 w 1222420"/>
              <a:gd name="connsiteY3" fmla="*/ 6020873 h 6226936"/>
              <a:gd name="connsiteX4" fmla="*/ 609599 w 1222420"/>
              <a:gd name="connsiteY4" fmla="*/ 6020874 h 6226936"/>
              <a:gd name="connsiteX5" fmla="*/ 1056067 w 1222420"/>
              <a:gd name="connsiteY5" fmla="*/ 5574406 h 6226936"/>
              <a:gd name="connsiteX6" fmla="*/ 1056068 w 1222420"/>
              <a:gd name="connsiteY6" fmla="*/ 646090 h 6226936"/>
              <a:gd name="connsiteX7" fmla="*/ 609600 w 1222420"/>
              <a:gd name="connsiteY7" fmla="*/ 199622 h 6226936"/>
              <a:gd name="connsiteX8" fmla="*/ 611210 w 1222420"/>
              <a:gd name="connsiteY8" fmla="*/ 0 h 6226936"/>
              <a:gd name="connsiteX9" fmla="*/ 1222420 w 1222420"/>
              <a:gd name="connsiteY9" fmla="*/ 611210 h 6226936"/>
              <a:gd name="connsiteX10" fmla="*/ 1222419 w 1222420"/>
              <a:gd name="connsiteY10" fmla="*/ 5615726 h 6226936"/>
              <a:gd name="connsiteX11" fmla="*/ 611209 w 1222420"/>
              <a:gd name="connsiteY11" fmla="*/ 6226936 h 6226936"/>
              <a:gd name="connsiteX12" fmla="*/ 611210 w 1222420"/>
              <a:gd name="connsiteY12" fmla="*/ 6226935 h 6226936"/>
              <a:gd name="connsiteX13" fmla="*/ 0 w 1222420"/>
              <a:gd name="connsiteY13" fmla="*/ 5615725 h 6226936"/>
              <a:gd name="connsiteX14" fmla="*/ 0 w 1222420"/>
              <a:gd name="connsiteY14" fmla="*/ 611210 h 6226936"/>
              <a:gd name="connsiteX15" fmla="*/ 611210 w 1222420"/>
              <a:gd name="connsiteY15" fmla="*/ 0 h 6226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420" h="6226936">
                <a:moveTo>
                  <a:pt x="609600" y="199622"/>
                </a:moveTo>
                <a:cubicBezTo>
                  <a:pt x="363023" y="199622"/>
                  <a:pt x="163132" y="399513"/>
                  <a:pt x="163132" y="646090"/>
                </a:cubicBezTo>
                <a:lnTo>
                  <a:pt x="163132" y="5574405"/>
                </a:lnTo>
                <a:cubicBezTo>
                  <a:pt x="163132" y="5820982"/>
                  <a:pt x="363023" y="6020873"/>
                  <a:pt x="609600" y="6020873"/>
                </a:cubicBezTo>
                <a:lnTo>
                  <a:pt x="609599" y="6020874"/>
                </a:lnTo>
                <a:cubicBezTo>
                  <a:pt x="856176" y="6020874"/>
                  <a:pt x="1056067" y="5820983"/>
                  <a:pt x="1056067" y="5574406"/>
                </a:cubicBezTo>
                <a:cubicBezTo>
                  <a:pt x="1056067" y="3931634"/>
                  <a:pt x="1056068" y="2288862"/>
                  <a:pt x="1056068" y="646090"/>
                </a:cubicBezTo>
                <a:cubicBezTo>
                  <a:pt x="1056068" y="399513"/>
                  <a:pt x="856177" y="199622"/>
                  <a:pt x="609600" y="199622"/>
                </a:cubicBezTo>
                <a:close/>
                <a:moveTo>
                  <a:pt x="611210" y="0"/>
                </a:moveTo>
                <a:cubicBezTo>
                  <a:pt x="948772" y="0"/>
                  <a:pt x="1222420" y="273648"/>
                  <a:pt x="1222420" y="611210"/>
                </a:cubicBezTo>
                <a:cubicBezTo>
                  <a:pt x="1222420" y="2279382"/>
                  <a:pt x="1222419" y="3947554"/>
                  <a:pt x="1222419" y="5615726"/>
                </a:cubicBezTo>
                <a:cubicBezTo>
                  <a:pt x="1222419" y="5953288"/>
                  <a:pt x="948771" y="6226936"/>
                  <a:pt x="611209" y="6226936"/>
                </a:cubicBezTo>
                <a:lnTo>
                  <a:pt x="611210" y="6226935"/>
                </a:lnTo>
                <a:cubicBezTo>
                  <a:pt x="273648" y="6226935"/>
                  <a:pt x="0" y="5953287"/>
                  <a:pt x="0" y="5615725"/>
                </a:cubicBezTo>
                <a:lnTo>
                  <a:pt x="0" y="611210"/>
                </a:lnTo>
                <a:cubicBezTo>
                  <a:pt x="0" y="273648"/>
                  <a:pt x="273648" y="0"/>
                  <a:pt x="61121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outerShdw blurRad="127000" dist="38100" dir="2700000" algn="tl" rotWithShape="0">
              <a:prstClr val="black">
                <a:alpha val="5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A9F5BF-03F0-4CB9-A433-5DB82204930D}"/>
              </a:ext>
            </a:extLst>
          </p:cNvPr>
          <p:cNvSpPr/>
          <p:nvPr/>
        </p:nvSpPr>
        <p:spPr>
          <a:xfrm>
            <a:off x="5133205" y="80096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559BA6-31BE-45EF-8A7B-8018810E6DF3}"/>
              </a:ext>
            </a:extLst>
          </p:cNvPr>
          <p:cNvSpPr/>
          <p:nvPr/>
        </p:nvSpPr>
        <p:spPr>
          <a:xfrm>
            <a:off x="5133205" y="2212415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83D6D5-94B5-4889-9A73-3AE5E783F3C2}"/>
              </a:ext>
            </a:extLst>
          </p:cNvPr>
          <p:cNvSpPr/>
          <p:nvPr/>
        </p:nvSpPr>
        <p:spPr>
          <a:xfrm>
            <a:off x="5133205" y="3623867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CDD191-3C03-4952-AF13-40C96A7B9C73}"/>
              </a:ext>
            </a:extLst>
          </p:cNvPr>
          <p:cNvSpPr/>
          <p:nvPr/>
        </p:nvSpPr>
        <p:spPr>
          <a:xfrm>
            <a:off x="5133205" y="5035319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437EEE-2603-4F48-8289-88184901F9DE}"/>
              </a:ext>
            </a:extLst>
          </p:cNvPr>
          <p:cNvSpPr/>
          <p:nvPr/>
        </p:nvSpPr>
        <p:spPr>
          <a:xfrm flipH="1">
            <a:off x="6201546" y="5743891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C02B0C-092D-41B4-BB90-5D0467EF7D4A}"/>
              </a:ext>
            </a:extLst>
          </p:cNvPr>
          <p:cNvSpPr/>
          <p:nvPr/>
        </p:nvSpPr>
        <p:spPr>
          <a:xfrm flipH="1">
            <a:off x="6201546" y="4367623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9CB4C53-12BC-47C8-A2B6-23EA6B536670}"/>
              </a:ext>
            </a:extLst>
          </p:cNvPr>
          <p:cNvSpPr/>
          <p:nvPr/>
        </p:nvSpPr>
        <p:spPr>
          <a:xfrm flipH="1">
            <a:off x="6201546" y="2937398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BFE9EE-64D1-4F5C-B753-028030012F11}"/>
              </a:ext>
            </a:extLst>
          </p:cNvPr>
          <p:cNvSpPr/>
          <p:nvPr/>
        </p:nvSpPr>
        <p:spPr>
          <a:xfrm flipH="1">
            <a:off x="6201546" y="1496640"/>
            <a:ext cx="857249" cy="17145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1E28753-278D-4C3C-B7F3-03DDA838CFA3}"/>
              </a:ext>
            </a:extLst>
          </p:cNvPr>
          <p:cNvGrpSpPr/>
          <p:nvPr/>
        </p:nvGrpSpPr>
        <p:grpSpPr>
          <a:xfrm>
            <a:off x="2590800" y="434611"/>
            <a:ext cx="3731289" cy="1095866"/>
            <a:chOff x="2590800" y="434611"/>
            <a:chExt cx="3731289" cy="109586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825843C-03B2-4DDB-BCAC-A073F06C667F}"/>
                </a:ext>
              </a:extLst>
            </p:cNvPr>
            <p:cNvSpPr/>
            <p:nvPr/>
          </p:nvSpPr>
          <p:spPr>
            <a:xfrm flipV="1">
              <a:off x="3474719" y="97241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FD330FF-ADDB-45A7-BC9C-2FBFE99C3252}"/>
                </a:ext>
              </a:extLst>
            </p:cNvPr>
            <p:cNvSpPr/>
            <p:nvPr/>
          </p:nvSpPr>
          <p:spPr>
            <a:xfrm>
              <a:off x="2590800" y="43461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E1B22"/>
                </a:gs>
                <a:gs pos="100000">
                  <a:srgbClr val="F47B2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844BFD-073E-4F72-AB2A-7A9284816F66}"/>
                </a:ext>
              </a:extLst>
            </p:cNvPr>
            <p:cNvSpPr/>
            <p:nvPr/>
          </p:nvSpPr>
          <p:spPr>
            <a:xfrm>
              <a:off x="3474720" y="43461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D05982-D410-45DD-A74B-1E1E96E3A7FA}"/>
                </a:ext>
              </a:extLst>
            </p:cNvPr>
            <p:cNvSpPr txBox="1"/>
            <p:nvPr/>
          </p:nvSpPr>
          <p:spPr>
            <a:xfrm>
              <a:off x="2755534" y="707844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B7CEB22-5E98-47AF-91C7-C4DDE0A7EF8B}"/>
                </a:ext>
              </a:extLst>
            </p:cNvPr>
            <p:cNvSpPr txBox="1"/>
            <p:nvPr/>
          </p:nvSpPr>
          <p:spPr>
            <a:xfrm>
              <a:off x="3423142" y="514814"/>
              <a:ext cx="28989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Transformer-Based Context-Aware Detection</a:t>
              </a:r>
              <a:br>
                <a:rPr lang="en-US" sz="1200" dirty="0"/>
              </a:br>
              <a:r>
                <a:rPr lang="en-US" sz="1200" dirty="0"/>
                <a:t>Enhances fake news detection accuracy by understanding the full context of news articles and social media posts.</a:t>
              </a:r>
              <a:endParaRPr lang="en-GB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2B6AC3-B958-4604-9F42-74D0C2B13A6C}"/>
              </a:ext>
            </a:extLst>
          </p:cNvPr>
          <p:cNvGrpSpPr/>
          <p:nvPr/>
        </p:nvGrpSpPr>
        <p:grpSpPr>
          <a:xfrm>
            <a:off x="6095999" y="1127994"/>
            <a:ext cx="3505201" cy="1077895"/>
            <a:chOff x="6095999" y="1127994"/>
            <a:chExt cx="3505201" cy="10778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8BCACB-31B1-4C1D-81D5-0E3BD74C544F}"/>
                </a:ext>
              </a:extLst>
            </p:cNvPr>
            <p:cNvSpPr/>
            <p:nvPr/>
          </p:nvSpPr>
          <p:spPr>
            <a:xfrm flipH="1" flipV="1">
              <a:off x="6096000" y="1668088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D6910F-A4C9-4881-AEC5-C3C82F75E262}"/>
                </a:ext>
              </a:extLst>
            </p:cNvPr>
            <p:cNvSpPr/>
            <p:nvPr/>
          </p:nvSpPr>
          <p:spPr>
            <a:xfrm flipH="1">
              <a:off x="8717280" y="1130288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A278F"/>
                </a:gs>
                <a:gs pos="100000">
                  <a:srgbClr val="F15FA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9AD72EE-919C-47A3-BE60-36D22FC77DEA}"/>
                </a:ext>
              </a:extLst>
            </p:cNvPr>
            <p:cNvSpPr/>
            <p:nvPr/>
          </p:nvSpPr>
          <p:spPr>
            <a:xfrm flipH="1">
              <a:off x="6095999" y="1130288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28641E-2D93-41AA-A70B-84F27D1AA64B}"/>
                </a:ext>
              </a:extLst>
            </p:cNvPr>
            <p:cNvSpPr txBox="1"/>
            <p:nvPr/>
          </p:nvSpPr>
          <p:spPr>
            <a:xfrm>
              <a:off x="8724356" y="1399188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C9C08F-868A-4532-8D97-E58A5A9A6B30}"/>
                </a:ext>
              </a:extLst>
            </p:cNvPr>
            <p:cNvSpPr txBox="1"/>
            <p:nvPr/>
          </p:nvSpPr>
          <p:spPr>
            <a:xfrm>
              <a:off x="6763748" y="1127994"/>
              <a:ext cx="22627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Real-Time Claim Verification</a:t>
              </a:r>
              <a:br>
                <a:rPr lang="en-US" sz="1200" dirty="0"/>
              </a:br>
              <a:r>
                <a:rPr lang="en-US" sz="1200" dirty="0"/>
                <a:t>Integrates trusted fact-checking APIs to verify factual claims instantly and reduce misinformation spread.</a:t>
              </a:r>
              <a:endParaRPr lang="en-GB"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4620E6-E1B0-40F0-9241-6478F3AF4F6C}"/>
              </a:ext>
            </a:extLst>
          </p:cNvPr>
          <p:cNvGrpSpPr/>
          <p:nvPr/>
        </p:nvGrpSpPr>
        <p:grpSpPr>
          <a:xfrm>
            <a:off x="6095999" y="2527951"/>
            <a:ext cx="3505201" cy="1200329"/>
            <a:chOff x="6095999" y="2527951"/>
            <a:chExt cx="3505201" cy="120032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E61EF6-BB9C-4005-9C03-6DA9071F7894}"/>
                </a:ext>
              </a:extLst>
            </p:cNvPr>
            <p:cNvSpPr/>
            <p:nvPr/>
          </p:nvSpPr>
          <p:spPr>
            <a:xfrm flipH="1" flipV="1">
              <a:off x="6096000" y="31088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C1E1F6-4D1B-47DB-B058-B86B8E9E2834}"/>
                </a:ext>
              </a:extLst>
            </p:cNvPr>
            <p:cNvSpPr/>
            <p:nvPr/>
          </p:nvSpPr>
          <p:spPr>
            <a:xfrm flipH="1">
              <a:off x="8717280" y="2571046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D9"/>
                </a:gs>
                <a:gs pos="100000">
                  <a:srgbClr val="69C6B3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5293AFD-346F-4C85-BEF9-584D4B698EB7}"/>
                </a:ext>
              </a:extLst>
            </p:cNvPr>
            <p:cNvSpPr/>
            <p:nvPr/>
          </p:nvSpPr>
          <p:spPr>
            <a:xfrm flipH="1">
              <a:off x="6095999" y="2571046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1907B8-C3CE-4B76-A34D-18AD8C797065}"/>
                </a:ext>
              </a:extLst>
            </p:cNvPr>
            <p:cNvSpPr txBox="1"/>
            <p:nvPr/>
          </p:nvSpPr>
          <p:spPr>
            <a:xfrm>
              <a:off x="8733358" y="2846609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AF701D5-9F3B-43C9-B5D0-E13445F0CB4E}"/>
                </a:ext>
              </a:extLst>
            </p:cNvPr>
            <p:cNvSpPr txBox="1"/>
            <p:nvPr/>
          </p:nvSpPr>
          <p:spPr>
            <a:xfrm>
              <a:off x="6705600" y="2527951"/>
              <a:ext cx="23423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Named Entity–Driven Claim Extraction</a:t>
              </a:r>
              <a:br>
                <a:rPr lang="en-US" sz="1200" dirty="0"/>
              </a:br>
              <a:r>
                <a:rPr lang="en-US" sz="1200" dirty="0"/>
                <a:t>Identifies key entities such as people, places, and organizations to enable precise claim verification.</a:t>
              </a:r>
              <a:endParaRPr lang="en-GB" sz="12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BDCE9F6-055F-482F-8DCC-387451CFB748}"/>
              </a:ext>
            </a:extLst>
          </p:cNvPr>
          <p:cNvSpPr txBox="1"/>
          <p:nvPr/>
        </p:nvSpPr>
        <p:spPr>
          <a:xfrm>
            <a:off x="7101130" y="37761"/>
            <a:ext cx="4862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ca Majora 3 Bold" panose="00000800000000000000" pitchFamily="50" charset="0"/>
              </a:rPr>
              <a:t>Feature Enhancement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EE4973A-3A8D-497A-AECC-DAB05C86FBDD}"/>
              </a:ext>
            </a:extLst>
          </p:cNvPr>
          <p:cNvGrpSpPr/>
          <p:nvPr/>
        </p:nvGrpSpPr>
        <p:grpSpPr>
          <a:xfrm>
            <a:off x="6095999" y="4001271"/>
            <a:ext cx="3505201" cy="1075601"/>
            <a:chOff x="6095999" y="4001271"/>
            <a:chExt cx="3505201" cy="107560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9279CB-D40E-4594-AE7A-092D7960E521}"/>
                </a:ext>
              </a:extLst>
            </p:cNvPr>
            <p:cNvSpPr/>
            <p:nvPr/>
          </p:nvSpPr>
          <p:spPr>
            <a:xfrm flipH="1" flipV="1">
              <a:off x="6096000" y="453907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F1A4815-CE82-401D-B7CC-A73CC7CB9F58}"/>
                </a:ext>
              </a:extLst>
            </p:cNvPr>
            <p:cNvSpPr/>
            <p:nvPr/>
          </p:nvSpPr>
          <p:spPr>
            <a:xfrm flipH="1">
              <a:off x="8717280" y="4001271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1CE54"/>
                </a:gs>
                <a:gs pos="100000">
                  <a:srgbClr val="CEE02D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142DB67-820E-4398-AB49-4E5F59213D69}"/>
                </a:ext>
              </a:extLst>
            </p:cNvPr>
            <p:cNvSpPr/>
            <p:nvPr/>
          </p:nvSpPr>
          <p:spPr>
            <a:xfrm flipH="1">
              <a:off x="6095999" y="4001271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9B4B624-08BE-470E-AD7A-DD04B66B0DAB}"/>
                </a:ext>
              </a:extLst>
            </p:cNvPr>
            <p:cNvSpPr txBox="1"/>
            <p:nvPr/>
          </p:nvSpPr>
          <p:spPr>
            <a:xfrm>
              <a:off x="8724356" y="427017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580F6E-CDD6-4F87-A1E2-73A68D0925D4}"/>
                </a:ext>
              </a:extLst>
            </p:cNvPr>
            <p:cNvSpPr txBox="1"/>
            <p:nvPr/>
          </p:nvSpPr>
          <p:spPr>
            <a:xfrm>
              <a:off x="6739479" y="4028947"/>
              <a:ext cx="210928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Explainable AI Insights</a:t>
              </a:r>
              <a:br>
                <a:rPr lang="en-US" sz="1200" dirty="0"/>
              </a:br>
              <a:r>
                <a:rPr lang="en-US" sz="1200" dirty="0"/>
                <a:t>Highlights suspicious phrases and keywords, making the system’s decisions transparent and understandable.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657D9F9-BB75-48AA-A23B-E2ED84AEECF3}"/>
              </a:ext>
            </a:extLst>
          </p:cNvPr>
          <p:cNvGrpSpPr/>
          <p:nvPr/>
        </p:nvGrpSpPr>
        <p:grpSpPr>
          <a:xfrm>
            <a:off x="6095999" y="5377539"/>
            <a:ext cx="3505201" cy="1075601"/>
            <a:chOff x="6095999" y="5377539"/>
            <a:chExt cx="3505201" cy="107560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5D6E32-4D14-46D5-A727-C52DCC4C3EBD}"/>
                </a:ext>
              </a:extLst>
            </p:cNvPr>
            <p:cNvSpPr/>
            <p:nvPr/>
          </p:nvSpPr>
          <p:spPr>
            <a:xfrm flipH="1" flipV="1">
              <a:off x="6096000" y="59153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F4E106-A902-4D65-B87F-9D316A5D7FEA}"/>
                </a:ext>
              </a:extLst>
            </p:cNvPr>
            <p:cNvSpPr/>
            <p:nvPr/>
          </p:nvSpPr>
          <p:spPr>
            <a:xfrm flipH="1">
              <a:off x="8717280" y="537753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10F53"/>
                </a:gs>
                <a:gs pos="100000">
                  <a:srgbClr val="FE478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A7F6050-491D-43DA-B1BA-183816B3899F}"/>
                </a:ext>
              </a:extLst>
            </p:cNvPr>
            <p:cNvSpPr/>
            <p:nvPr/>
          </p:nvSpPr>
          <p:spPr>
            <a:xfrm flipH="1">
              <a:off x="6095999" y="5377539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F2B263-5758-4CD6-8AE2-C2C89BF6F7FF}"/>
                </a:ext>
              </a:extLst>
            </p:cNvPr>
            <p:cNvSpPr txBox="1"/>
            <p:nvPr/>
          </p:nvSpPr>
          <p:spPr>
            <a:xfrm>
              <a:off x="8733358" y="5622951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67269EA-DA29-45B6-AD3A-DEF2622499FF}"/>
                </a:ext>
              </a:extLst>
            </p:cNvPr>
            <p:cNvSpPr txBox="1"/>
            <p:nvPr/>
          </p:nvSpPr>
          <p:spPr>
            <a:xfrm>
              <a:off x="6374039" y="5437477"/>
              <a:ext cx="262128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Interactive Visualization Dashboard</a:t>
              </a:r>
              <a:br>
                <a:rPr lang="en-US" sz="1200" dirty="0"/>
              </a:br>
              <a:r>
                <a:rPr lang="en-US" sz="1200" dirty="0"/>
                <a:t>Displays analysis results, credibility scores, and verification sources through an intuitive and user-friendly interface.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E76ABA-1DCC-49EC-8B69-5A4687FB10DE}"/>
              </a:ext>
            </a:extLst>
          </p:cNvPr>
          <p:cNvGrpSpPr/>
          <p:nvPr/>
        </p:nvGrpSpPr>
        <p:grpSpPr>
          <a:xfrm>
            <a:off x="2590800" y="1830419"/>
            <a:ext cx="3505201" cy="1091245"/>
            <a:chOff x="2590800" y="1830419"/>
            <a:chExt cx="3505201" cy="109124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EEC09C0-BA0C-493D-A21A-C49CED20A36F}"/>
                </a:ext>
              </a:extLst>
            </p:cNvPr>
            <p:cNvSpPr/>
            <p:nvPr/>
          </p:nvSpPr>
          <p:spPr>
            <a:xfrm flipV="1">
              <a:off x="3474719" y="23838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F02C0B-752D-4058-9CC9-34A830DE56D9}"/>
                </a:ext>
              </a:extLst>
            </p:cNvPr>
            <p:cNvSpPr/>
            <p:nvPr/>
          </p:nvSpPr>
          <p:spPr>
            <a:xfrm>
              <a:off x="2590800" y="1830419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94AA6"/>
                </a:gs>
                <a:gs pos="100000">
                  <a:srgbClr val="9071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479D8B-173D-43D8-82AF-9AFBF756321B}"/>
                </a:ext>
              </a:extLst>
            </p:cNvPr>
            <p:cNvSpPr/>
            <p:nvPr/>
          </p:nvSpPr>
          <p:spPr>
            <a:xfrm>
              <a:off x="3474720" y="1846063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4A5BFE-1B36-4518-81F9-837CDFA64E17}"/>
                </a:ext>
              </a:extLst>
            </p:cNvPr>
            <p:cNvSpPr txBox="1"/>
            <p:nvPr/>
          </p:nvSpPr>
          <p:spPr>
            <a:xfrm>
              <a:off x="2774791" y="2114963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47AFDC5-B8D9-4BB7-BAA6-707ECF6313E6}"/>
                </a:ext>
              </a:extLst>
            </p:cNvPr>
            <p:cNvSpPr txBox="1"/>
            <p:nvPr/>
          </p:nvSpPr>
          <p:spPr>
            <a:xfrm>
              <a:off x="3426344" y="1880647"/>
              <a:ext cx="21184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Advanced NLP Preprocessing</a:t>
              </a:r>
              <a:br>
                <a:rPr lang="en-US" sz="1200" dirty="0"/>
              </a:br>
              <a:r>
                <a:rPr lang="en-US" sz="1200" dirty="0"/>
                <a:t>Improves analysis quality by cleaning and normalizing text, including hashtags, emojis, URLs, and metadata.</a:t>
              </a:r>
              <a:endParaRPr lang="en-GB" sz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CD189C-80A3-4153-91C2-2DEACCA67483}"/>
              </a:ext>
            </a:extLst>
          </p:cNvPr>
          <p:cNvGrpSpPr/>
          <p:nvPr/>
        </p:nvGrpSpPr>
        <p:grpSpPr>
          <a:xfrm>
            <a:off x="2590800" y="3257515"/>
            <a:ext cx="3505201" cy="1088220"/>
            <a:chOff x="2590800" y="3257515"/>
            <a:chExt cx="3505201" cy="108822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5BF44A0-43CF-49BA-9EE6-EDDD5A6120FF}"/>
                </a:ext>
              </a:extLst>
            </p:cNvPr>
            <p:cNvSpPr/>
            <p:nvPr/>
          </p:nvSpPr>
          <p:spPr>
            <a:xfrm flipV="1">
              <a:off x="3474719" y="37953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DFFDD5-F9E0-42F5-B15C-728120CE1021}"/>
                </a:ext>
              </a:extLst>
            </p:cNvPr>
            <p:cNvSpPr/>
            <p:nvPr/>
          </p:nvSpPr>
          <p:spPr>
            <a:xfrm>
              <a:off x="2590800" y="3257515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A567"/>
                </a:gs>
                <a:gs pos="100000">
                  <a:srgbClr val="A2CD4A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5E7695-57A6-4198-88E6-F8B61A1DA6F4}"/>
                </a:ext>
              </a:extLst>
            </p:cNvPr>
            <p:cNvSpPr/>
            <p:nvPr/>
          </p:nvSpPr>
          <p:spPr>
            <a:xfrm>
              <a:off x="3474720" y="3257515"/>
              <a:ext cx="2621281" cy="537801"/>
            </a:xfrm>
            <a:custGeom>
              <a:avLst/>
              <a:gdLst>
                <a:gd name="connsiteX0" fmla="*/ 0 w 2621281"/>
                <a:gd name="connsiteY0" fmla="*/ 0 h 537801"/>
                <a:gd name="connsiteX1" fmla="*/ 2083480 w 2621281"/>
                <a:gd name="connsiteY1" fmla="*/ 0 h 537801"/>
                <a:gd name="connsiteX2" fmla="*/ 2621281 w 2621281"/>
                <a:gd name="connsiteY2" fmla="*/ 537801 h 537801"/>
                <a:gd name="connsiteX3" fmla="*/ 2621280 w 2621281"/>
                <a:gd name="connsiteY3" fmla="*/ 537801 h 537801"/>
                <a:gd name="connsiteX4" fmla="*/ 2331720 w 2621281"/>
                <a:gd name="connsiteY4" fmla="*/ 537801 h 537801"/>
                <a:gd name="connsiteX5" fmla="*/ 2331720 w 2621281"/>
                <a:gd name="connsiteY5" fmla="*/ 451779 h 537801"/>
                <a:gd name="connsiteX6" fmla="*/ 1836420 w 2621281"/>
                <a:gd name="connsiteY6" fmla="*/ 451779 h 537801"/>
                <a:gd name="connsiteX7" fmla="*/ 1836420 w 2621281"/>
                <a:gd name="connsiteY7" fmla="*/ 537801 h 537801"/>
                <a:gd name="connsiteX8" fmla="*/ 0 w 2621281"/>
                <a:gd name="connsiteY8" fmla="*/ 537801 h 5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81" h="537801">
                  <a:moveTo>
                    <a:pt x="0" y="0"/>
                  </a:moveTo>
                  <a:lnTo>
                    <a:pt x="2083480" y="0"/>
                  </a:lnTo>
                  <a:cubicBezTo>
                    <a:pt x="2380499" y="0"/>
                    <a:pt x="2621281" y="240782"/>
                    <a:pt x="2621281" y="537801"/>
                  </a:cubicBezTo>
                  <a:lnTo>
                    <a:pt x="2621280" y="537801"/>
                  </a:lnTo>
                  <a:lnTo>
                    <a:pt x="2331720" y="537801"/>
                  </a:lnTo>
                  <a:lnTo>
                    <a:pt x="2331720" y="451779"/>
                  </a:lnTo>
                  <a:lnTo>
                    <a:pt x="1836420" y="451779"/>
                  </a:lnTo>
                  <a:lnTo>
                    <a:pt x="1836420" y="537801"/>
                  </a:lnTo>
                  <a:lnTo>
                    <a:pt x="0" y="53780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515622D-C95D-413A-AF4A-8F4ED2CB04B3}"/>
                </a:ext>
              </a:extLst>
            </p:cNvPr>
            <p:cNvSpPr txBox="1"/>
            <p:nvPr/>
          </p:nvSpPr>
          <p:spPr>
            <a:xfrm>
              <a:off x="2752429" y="3525206"/>
              <a:ext cx="685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ca Majora 3 Bold" panose="00000800000000000000" pitchFamily="50" charset="0"/>
                </a:rPr>
                <a:t>05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2551E6-7DE2-46E4-8340-DB2EA6C85D4D}"/>
                </a:ext>
              </a:extLst>
            </p:cNvPr>
            <p:cNvSpPr txBox="1"/>
            <p:nvPr/>
          </p:nvSpPr>
          <p:spPr>
            <a:xfrm>
              <a:off x="3394268" y="3330072"/>
              <a:ext cx="222929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Probability-Based Credibility Scoring</a:t>
              </a:r>
              <a:br>
                <a:rPr lang="en-US" sz="1200" dirty="0"/>
              </a:br>
              <a:r>
                <a:rPr lang="en-US" sz="1200" dirty="0"/>
                <a:t>Provides a confidence score (0–1) to help users clearly assess the reliability of content.</a:t>
              </a:r>
              <a:endParaRPr lang="en-IN" sz="12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9E551E-CD0A-4D5F-BC04-7A310D3C298F}"/>
              </a:ext>
            </a:extLst>
          </p:cNvPr>
          <p:cNvGrpSpPr/>
          <p:nvPr/>
        </p:nvGrpSpPr>
        <p:grpSpPr>
          <a:xfrm>
            <a:off x="2590800" y="4600807"/>
            <a:ext cx="3505201" cy="1200329"/>
            <a:chOff x="2590800" y="4600807"/>
            <a:chExt cx="3505201" cy="1200329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14F597-73DA-42D7-A6FA-604E6DDCAF0B}"/>
                </a:ext>
              </a:extLst>
            </p:cNvPr>
            <p:cNvSpPr/>
            <p:nvPr/>
          </p:nvSpPr>
          <p:spPr>
            <a:xfrm>
              <a:off x="2590800" y="4668967"/>
              <a:ext cx="883920" cy="1075601"/>
            </a:xfrm>
            <a:custGeom>
              <a:avLst/>
              <a:gdLst>
                <a:gd name="connsiteX0" fmla="*/ 537801 w 883920"/>
                <a:gd name="connsiteY0" fmla="*/ 0 h 1075601"/>
                <a:gd name="connsiteX1" fmla="*/ 883920 w 883920"/>
                <a:gd name="connsiteY1" fmla="*/ 0 h 1075601"/>
                <a:gd name="connsiteX2" fmla="*/ 883920 w 883920"/>
                <a:gd name="connsiteY2" fmla="*/ 1075601 h 1075601"/>
                <a:gd name="connsiteX3" fmla="*/ 537801 w 883920"/>
                <a:gd name="connsiteY3" fmla="*/ 1075601 h 1075601"/>
                <a:gd name="connsiteX4" fmla="*/ 10926 w 883920"/>
                <a:gd name="connsiteY4" fmla="*/ 646186 h 1075601"/>
                <a:gd name="connsiteX5" fmla="*/ 0 w 883920"/>
                <a:gd name="connsiteY5" fmla="*/ 537801 h 1075601"/>
                <a:gd name="connsiteX6" fmla="*/ 10926 w 883920"/>
                <a:gd name="connsiteY6" fmla="*/ 429415 h 1075601"/>
                <a:gd name="connsiteX7" fmla="*/ 537801 w 883920"/>
                <a:gd name="connsiteY7" fmla="*/ 0 h 10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20" h="1075601">
                  <a:moveTo>
                    <a:pt x="537801" y="0"/>
                  </a:moveTo>
                  <a:lnTo>
                    <a:pt x="883920" y="0"/>
                  </a:lnTo>
                  <a:lnTo>
                    <a:pt x="883920" y="1075601"/>
                  </a:lnTo>
                  <a:lnTo>
                    <a:pt x="537801" y="1075601"/>
                  </a:lnTo>
                  <a:cubicBezTo>
                    <a:pt x="277910" y="1075601"/>
                    <a:pt x="61074" y="891252"/>
                    <a:pt x="10926" y="646186"/>
                  </a:cubicBezTo>
                  <a:lnTo>
                    <a:pt x="0" y="537801"/>
                  </a:lnTo>
                  <a:lnTo>
                    <a:pt x="10926" y="429415"/>
                  </a:lnTo>
                  <a:cubicBezTo>
                    <a:pt x="61074" y="184349"/>
                    <a:pt x="277910" y="0"/>
                    <a:pt x="537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25B45"/>
                </a:gs>
                <a:gs pos="100000">
                  <a:srgbClr val="FED3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9229826-26E7-47FA-9357-E38D07515416}"/>
                </a:ext>
              </a:extLst>
            </p:cNvPr>
            <p:cNvGrpSpPr/>
            <p:nvPr/>
          </p:nvGrpSpPr>
          <p:grpSpPr>
            <a:xfrm>
              <a:off x="2774791" y="4600807"/>
              <a:ext cx="3321210" cy="1200329"/>
              <a:chOff x="2774791" y="4600807"/>
              <a:chExt cx="3321210" cy="1200329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119DBF6-8F68-4D33-B965-90BE47DED9B9}"/>
                  </a:ext>
                </a:extLst>
              </p:cNvPr>
              <p:cNvSpPr/>
              <p:nvPr/>
            </p:nvSpPr>
            <p:spPr>
              <a:xfrm flipV="1">
                <a:off x="3474719" y="52067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4DF0BC7-74A3-47A7-899C-50A0E9C22EB7}"/>
                  </a:ext>
                </a:extLst>
              </p:cNvPr>
              <p:cNvSpPr/>
              <p:nvPr/>
            </p:nvSpPr>
            <p:spPr>
              <a:xfrm>
                <a:off x="3474720" y="4668967"/>
                <a:ext cx="2621281" cy="537801"/>
              </a:xfrm>
              <a:custGeom>
                <a:avLst/>
                <a:gdLst>
                  <a:gd name="connsiteX0" fmla="*/ 0 w 2621281"/>
                  <a:gd name="connsiteY0" fmla="*/ 0 h 537801"/>
                  <a:gd name="connsiteX1" fmla="*/ 2083480 w 2621281"/>
                  <a:gd name="connsiteY1" fmla="*/ 0 h 537801"/>
                  <a:gd name="connsiteX2" fmla="*/ 2621281 w 2621281"/>
                  <a:gd name="connsiteY2" fmla="*/ 537801 h 537801"/>
                  <a:gd name="connsiteX3" fmla="*/ 2621280 w 2621281"/>
                  <a:gd name="connsiteY3" fmla="*/ 537801 h 537801"/>
                  <a:gd name="connsiteX4" fmla="*/ 2331720 w 2621281"/>
                  <a:gd name="connsiteY4" fmla="*/ 537801 h 537801"/>
                  <a:gd name="connsiteX5" fmla="*/ 2331720 w 2621281"/>
                  <a:gd name="connsiteY5" fmla="*/ 451779 h 537801"/>
                  <a:gd name="connsiteX6" fmla="*/ 1836420 w 2621281"/>
                  <a:gd name="connsiteY6" fmla="*/ 451779 h 537801"/>
                  <a:gd name="connsiteX7" fmla="*/ 1836420 w 2621281"/>
                  <a:gd name="connsiteY7" fmla="*/ 537801 h 537801"/>
                  <a:gd name="connsiteX8" fmla="*/ 0 w 2621281"/>
                  <a:gd name="connsiteY8" fmla="*/ 537801 h 537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81" h="537801">
                    <a:moveTo>
                      <a:pt x="0" y="0"/>
                    </a:moveTo>
                    <a:lnTo>
                      <a:pt x="2083480" y="0"/>
                    </a:lnTo>
                    <a:cubicBezTo>
                      <a:pt x="2380499" y="0"/>
                      <a:pt x="2621281" y="240782"/>
                      <a:pt x="2621281" y="537801"/>
                    </a:cubicBezTo>
                    <a:lnTo>
                      <a:pt x="2621280" y="537801"/>
                    </a:lnTo>
                    <a:lnTo>
                      <a:pt x="2331720" y="537801"/>
                    </a:lnTo>
                    <a:lnTo>
                      <a:pt x="2331720" y="451779"/>
                    </a:lnTo>
                    <a:lnTo>
                      <a:pt x="1836420" y="451779"/>
                    </a:lnTo>
                    <a:lnTo>
                      <a:pt x="1836420" y="537801"/>
                    </a:lnTo>
                    <a:lnTo>
                      <a:pt x="0" y="53780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8837CB-25EB-47EF-8CA9-F2D8F0DBD09B}"/>
                  </a:ext>
                </a:extLst>
              </p:cNvPr>
              <p:cNvSpPr txBox="1"/>
              <p:nvPr/>
            </p:nvSpPr>
            <p:spPr>
              <a:xfrm>
                <a:off x="2774791" y="4955352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Arca Majora 3 Bold" panose="00000800000000000000" pitchFamily="50" charset="0"/>
                  </a:rPr>
                  <a:t>07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B0C7484-E41B-4690-B1A8-80C576FFCCF0}"/>
                  </a:ext>
                </a:extLst>
              </p:cNvPr>
              <p:cNvSpPr txBox="1"/>
              <p:nvPr/>
            </p:nvSpPr>
            <p:spPr>
              <a:xfrm>
                <a:off x="3402235" y="4600807"/>
                <a:ext cx="23834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Scalable Misinformation Detection System</a:t>
                </a:r>
                <a:br>
                  <a:rPr lang="en-US" sz="1200" dirty="0"/>
                </a:br>
                <a:r>
                  <a:rPr lang="en-US" sz="1200" dirty="0"/>
                  <a:t>Supports large-scale content analysis efficiently, making the system suitable for real-world deployment.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363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EC8A44E-9361-4AF6-8B41-6661D222A923}"/>
              </a:ext>
            </a:extLst>
          </p:cNvPr>
          <p:cNvSpPr/>
          <p:nvPr/>
        </p:nvSpPr>
        <p:spPr>
          <a:xfrm rot="5400000">
            <a:off x="5204222" y="-2398400"/>
            <a:ext cx="1016372" cy="7671694"/>
          </a:xfrm>
          <a:custGeom>
            <a:avLst/>
            <a:gdLst>
              <a:gd name="connsiteX0" fmla="*/ 0 w 1108034"/>
              <a:gd name="connsiteY0" fmla="*/ 6829426 h 8363570"/>
              <a:gd name="connsiteX1" fmla="*/ 0 w 1108034"/>
              <a:gd name="connsiteY1" fmla="*/ 554019 h 8363570"/>
              <a:gd name="connsiteX2" fmla="*/ 554017 w 1108034"/>
              <a:gd name="connsiteY2" fmla="*/ 0 h 8363570"/>
              <a:gd name="connsiteX3" fmla="*/ 1108034 w 1108034"/>
              <a:gd name="connsiteY3" fmla="*/ 554019 h 8363570"/>
              <a:gd name="connsiteX4" fmla="*/ 1108034 w 1108034"/>
              <a:gd name="connsiteY4" fmla="*/ 8195761 h 8363570"/>
              <a:gd name="connsiteX5" fmla="*/ 1008811 w 1108034"/>
              <a:gd name="connsiteY5" fmla="*/ 8233116 h 8363570"/>
              <a:gd name="connsiteX6" fmla="*/ 181991 w 1108034"/>
              <a:gd name="connsiteY6" fmla="*/ 8363570 h 8363570"/>
              <a:gd name="connsiteX7" fmla="*/ 6741 w 1108034"/>
              <a:gd name="connsiteY7" fmla="*/ 8356654 h 8363570"/>
              <a:gd name="connsiteX8" fmla="*/ 6741 w 1108034"/>
              <a:gd name="connsiteY8" fmla="*/ 6829426 h 83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034" h="8363570">
                <a:moveTo>
                  <a:pt x="0" y="6829426"/>
                </a:moveTo>
                <a:lnTo>
                  <a:pt x="0" y="554019"/>
                </a:lnTo>
                <a:cubicBezTo>
                  <a:pt x="0" y="248043"/>
                  <a:pt x="248042" y="0"/>
                  <a:pt x="554017" y="0"/>
                </a:cubicBezTo>
                <a:cubicBezTo>
                  <a:pt x="859992" y="0"/>
                  <a:pt x="1108034" y="248043"/>
                  <a:pt x="1108034" y="554019"/>
                </a:cubicBezTo>
                <a:lnTo>
                  <a:pt x="1108034" y="8195761"/>
                </a:lnTo>
                <a:lnTo>
                  <a:pt x="1008811" y="8233116"/>
                </a:lnTo>
                <a:cubicBezTo>
                  <a:pt x="754680" y="8317118"/>
                  <a:pt x="475277" y="8363570"/>
                  <a:pt x="181991" y="8363570"/>
                </a:cubicBezTo>
                <a:lnTo>
                  <a:pt x="6741" y="8356654"/>
                </a:lnTo>
                <a:lnTo>
                  <a:pt x="6741" y="68294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354633E-C734-483B-9E94-E79F6822B0BB}"/>
              </a:ext>
            </a:extLst>
          </p:cNvPr>
          <p:cNvSpPr/>
          <p:nvPr/>
        </p:nvSpPr>
        <p:spPr>
          <a:xfrm rot="5400000">
            <a:off x="5102077" y="-1125953"/>
            <a:ext cx="1016372" cy="7159548"/>
          </a:xfrm>
          <a:custGeom>
            <a:avLst/>
            <a:gdLst>
              <a:gd name="connsiteX0" fmla="*/ 0 w 1108034"/>
              <a:gd name="connsiteY0" fmla="*/ 7805236 h 7805236"/>
              <a:gd name="connsiteX1" fmla="*/ 0 w 1108034"/>
              <a:gd name="connsiteY1" fmla="*/ 554017 h 7805236"/>
              <a:gd name="connsiteX2" fmla="*/ 554017 w 1108034"/>
              <a:gd name="connsiteY2" fmla="*/ 0 h 7805236"/>
              <a:gd name="connsiteX3" fmla="*/ 1108034 w 1108034"/>
              <a:gd name="connsiteY3" fmla="*/ 554017 h 7805236"/>
              <a:gd name="connsiteX4" fmla="*/ 1108034 w 1108034"/>
              <a:gd name="connsiteY4" fmla="*/ 6941783 h 7805236"/>
              <a:gd name="connsiteX5" fmla="*/ 909013 w 1108034"/>
              <a:gd name="connsiteY5" fmla="*/ 7146380 h 7805236"/>
              <a:gd name="connsiteX6" fmla="*/ 909009 w 1108034"/>
              <a:gd name="connsiteY6" fmla="*/ 7146385 h 7805236"/>
              <a:gd name="connsiteX7" fmla="*/ 835343 w 1108034"/>
              <a:gd name="connsiteY7" fmla="*/ 7241148 h 7805236"/>
              <a:gd name="connsiteX8" fmla="*/ 713061 w 1108034"/>
              <a:gd name="connsiteY8" fmla="*/ 7368942 h 7805236"/>
              <a:gd name="connsiteX9" fmla="*/ 650309 w 1108034"/>
              <a:gd name="connsiteY9" fmla="*/ 7422901 h 7805236"/>
              <a:gd name="connsiteX10" fmla="*/ 650306 w 1108034"/>
              <a:gd name="connsiteY10" fmla="*/ 7422905 h 7805236"/>
              <a:gd name="connsiteX11" fmla="*/ 575964 w 1108034"/>
              <a:gd name="connsiteY11" fmla="*/ 7486829 h 7805236"/>
              <a:gd name="connsiteX12" fmla="*/ 86457 w 1108034"/>
              <a:gd name="connsiteY12" fmla="*/ 7772687 h 780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034" h="7805236">
                <a:moveTo>
                  <a:pt x="0" y="7805236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941783"/>
                </a:lnTo>
                <a:lnTo>
                  <a:pt x="909013" y="7146380"/>
                </a:lnTo>
                <a:lnTo>
                  <a:pt x="909009" y="7146385"/>
                </a:lnTo>
                <a:lnTo>
                  <a:pt x="835343" y="7241148"/>
                </a:lnTo>
                <a:cubicBezTo>
                  <a:pt x="797171" y="7285304"/>
                  <a:pt x="756350" y="7327949"/>
                  <a:pt x="713061" y="7368942"/>
                </a:cubicBezTo>
                <a:lnTo>
                  <a:pt x="650309" y="7422901"/>
                </a:lnTo>
                <a:lnTo>
                  <a:pt x="650306" y="7422905"/>
                </a:lnTo>
                <a:lnTo>
                  <a:pt x="575964" y="7486829"/>
                </a:lnTo>
                <a:cubicBezTo>
                  <a:pt x="431815" y="7599483"/>
                  <a:pt x="267044" y="7696021"/>
                  <a:pt x="86457" y="777268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07F8BB-3363-4800-BFA3-CAB0FB53AF32}"/>
              </a:ext>
            </a:extLst>
          </p:cNvPr>
          <p:cNvSpPr/>
          <p:nvPr/>
        </p:nvSpPr>
        <p:spPr>
          <a:xfrm rot="5400000">
            <a:off x="5318980" y="465543"/>
            <a:ext cx="1016372" cy="6009305"/>
          </a:xfrm>
          <a:custGeom>
            <a:avLst/>
            <a:gdLst>
              <a:gd name="connsiteX0" fmla="*/ 0 w 1108034"/>
              <a:gd name="connsiteY0" fmla="*/ 6551257 h 6551257"/>
              <a:gd name="connsiteX1" fmla="*/ 0 w 1108034"/>
              <a:gd name="connsiteY1" fmla="*/ 554017 h 6551257"/>
              <a:gd name="connsiteX2" fmla="*/ 554017 w 1108034"/>
              <a:gd name="connsiteY2" fmla="*/ 0 h 6551257"/>
              <a:gd name="connsiteX3" fmla="*/ 1108034 w 1108034"/>
              <a:gd name="connsiteY3" fmla="*/ 554017 h 6551257"/>
              <a:gd name="connsiteX4" fmla="*/ 1108034 w 1108034"/>
              <a:gd name="connsiteY4" fmla="*/ 6432787 h 6551257"/>
              <a:gd name="connsiteX5" fmla="*/ 913883 w 1108034"/>
              <a:gd name="connsiteY5" fmla="*/ 6233196 h 6551257"/>
              <a:gd name="connsiteX6" fmla="*/ 309392 w 1108034"/>
              <a:gd name="connsiteY6" fmla="*/ 6233196 h 655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8034" h="6551257">
                <a:moveTo>
                  <a:pt x="0" y="6551257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432787"/>
                </a:lnTo>
                <a:lnTo>
                  <a:pt x="913883" y="6233196"/>
                </a:lnTo>
                <a:cubicBezTo>
                  <a:pt x="746957" y="6061593"/>
                  <a:pt x="476318" y="6061593"/>
                  <a:pt x="309392" y="6233196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E311C0A-8B15-4D69-9FFA-E5DD3BC84D2F}"/>
              </a:ext>
            </a:extLst>
          </p:cNvPr>
          <p:cNvSpPr/>
          <p:nvPr/>
        </p:nvSpPr>
        <p:spPr>
          <a:xfrm rot="5400000">
            <a:off x="4765054" y="1286209"/>
            <a:ext cx="1016372" cy="6400721"/>
          </a:xfrm>
          <a:custGeom>
            <a:avLst/>
            <a:gdLst>
              <a:gd name="connsiteX0" fmla="*/ 0 w 1108034"/>
              <a:gd name="connsiteY0" fmla="*/ 6042265 h 6977973"/>
              <a:gd name="connsiteX1" fmla="*/ 0 w 1108034"/>
              <a:gd name="connsiteY1" fmla="*/ 554017 h 6977973"/>
              <a:gd name="connsiteX2" fmla="*/ 554017 w 1108034"/>
              <a:gd name="connsiteY2" fmla="*/ 0 h 6977973"/>
              <a:gd name="connsiteX3" fmla="*/ 1108034 w 1108034"/>
              <a:gd name="connsiteY3" fmla="*/ 554017 h 6977973"/>
              <a:gd name="connsiteX4" fmla="*/ 1108034 w 1108034"/>
              <a:gd name="connsiteY4" fmla="*/ 6977973 h 6977973"/>
              <a:gd name="connsiteX5" fmla="*/ 961681 w 1108034"/>
              <a:gd name="connsiteY5" fmla="*/ 6908488 h 6977973"/>
              <a:gd name="connsiteX6" fmla="*/ 647310 w 1108034"/>
              <a:gd name="connsiteY6" fmla="*/ 6705781 h 6977973"/>
              <a:gd name="connsiteX7" fmla="*/ 572969 w 1108034"/>
              <a:gd name="connsiteY7" fmla="*/ 6641859 h 6977973"/>
              <a:gd name="connsiteX8" fmla="*/ 572965 w 1108034"/>
              <a:gd name="connsiteY8" fmla="*/ 6641854 h 6977973"/>
              <a:gd name="connsiteX9" fmla="*/ 510212 w 1108034"/>
              <a:gd name="connsiteY9" fmla="*/ 6587894 h 6977973"/>
              <a:gd name="connsiteX10" fmla="*/ 387931 w 1108034"/>
              <a:gd name="connsiteY10" fmla="*/ 6460100 h 6977973"/>
              <a:gd name="connsiteX11" fmla="*/ 314260 w 1108034"/>
              <a:gd name="connsiteY11" fmla="*/ 6365330 h 6977973"/>
              <a:gd name="connsiteX12" fmla="*/ 314255 w 1108034"/>
              <a:gd name="connsiteY12" fmla="*/ 6365327 h 697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034" h="6977973">
                <a:moveTo>
                  <a:pt x="0" y="6042265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977973"/>
                </a:lnTo>
                <a:lnTo>
                  <a:pt x="961681" y="6908488"/>
                </a:lnTo>
                <a:cubicBezTo>
                  <a:pt x="848674" y="6848824"/>
                  <a:pt x="743410" y="6780884"/>
                  <a:pt x="647310" y="6705781"/>
                </a:cubicBezTo>
                <a:lnTo>
                  <a:pt x="572969" y="6641859"/>
                </a:lnTo>
                <a:lnTo>
                  <a:pt x="572965" y="6641854"/>
                </a:lnTo>
                <a:lnTo>
                  <a:pt x="510212" y="6587894"/>
                </a:lnTo>
                <a:cubicBezTo>
                  <a:pt x="466923" y="6546901"/>
                  <a:pt x="426103" y="6504256"/>
                  <a:pt x="387931" y="6460100"/>
                </a:cubicBezTo>
                <a:lnTo>
                  <a:pt x="314260" y="6365330"/>
                </a:lnTo>
                <a:lnTo>
                  <a:pt x="314255" y="6365327"/>
                </a:lnTo>
                <a:close/>
              </a:path>
            </a:pathLst>
          </a:custGeom>
          <a:solidFill>
            <a:schemeClr val="accent5">
              <a:lumMod val="75000"/>
              <a:lumOff val="25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4B82CB5-CA72-457D-BAE0-7FCE5B89BDFF}"/>
              </a:ext>
            </a:extLst>
          </p:cNvPr>
          <p:cNvSpPr/>
          <p:nvPr/>
        </p:nvSpPr>
        <p:spPr>
          <a:xfrm rot="5400000">
            <a:off x="4487786" y="2383533"/>
            <a:ext cx="1016372" cy="6238822"/>
          </a:xfrm>
          <a:custGeom>
            <a:avLst/>
            <a:gdLst>
              <a:gd name="connsiteX0" fmla="*/ 0 w 1108034"/>
              <a:gd name="connsiteY0" fmla="*/ 6587450 h 6801473"/>
              <a:gd name="connsiteX1" fmla="*/ 0 w 1108034"/>
              <a:gd name="connsiteY1" fmla="*/ 554017 h 6801473"/>
              <a:gd name="connsiteX2" fmla="*/ 554017 w 1108034"/>
              <a:gd name="connsiteY2" fmla="*/ 0 h 6801473"/>
              <a:gd name="connsiteX3" fmla="*/ 1108034 w 1108034"/>
              <a:gd name="connsiteY3" fmla="*/ 554017 h 6801473"/>
              <a:gd name="connsiteX4" fmla="*/ 1108034 w 1108034"/>
              <a:gd name="connsiteY4" fmla="*/ 6798838 h 6801473"/>
              <a:gd name="connsiteX5" fmla="*/ 1041284 w 1108034"/>
              <a:gd name="connsiteY5" fmla="*/ 6801473 h 6801473"/>
              <a:gd name="connsiteX6" fmla="*/ 28782 w 1108034"/>
              <a:gd name="connsiteY6" fmla="*/ 6601115 h 6801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8034" h="6801473">
                <a:moveTo>
                  <a:pt x="0" y="6587450"/>
                </a:moveTo>
                <a:lnTo>
                  <a:pt x="0" y="554017"/>
                </a:lnTo>
                <a:cubicBezTo>
                  <a:pt x="0" y="248042"/>
                  <a:pt x="248042" y="0"/>
                  <a:pt x="554017" y="0"/>
                </a:cubicBezTo>
                <a:cubicBezTo>
                  <a:pt x="859992" y="0"/>
                  <a:pt x="1108034" y="248042"/>
                  <a:pt x="1108034" y="554017"/>
                </a:cubicBezTo>
                <a:lnTo>
                  <a:pt x="1108034" y="6798838"/>
                </a:lnTo>
                <a:lnTo>
                  <a:pt x="1041284" y="6801473"/>
                </a:lnTo>
                <a:cubicBezTo>
                  <a:pt x="674677" y="6801473"/>
                  <a:pt x="329761" y="6728893"/>
                  <a:pt x="28782" y="660111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76200" dist="38100" algn="l" rotWithShape="0">
              <a:prstClr val="black">
                <a:alpha val="4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69D932-9E15-4E22-A4FB-3434B707A6A0}"/>
              </a:ext>
            </a:extLst>
          </p:cNvPr>
          <p:cNvSpPr/>
          <p:nvPr/>
        </p:nvSpPr>
        <p:spPr>
          <a:xfrm rot="16200000">
            <a:off x="851908" y="1944387"/>
            <a:ext cx="5075686" cy="3045429"/>
          </a:xfrm>
          <a:custGeom>
            <a:avLst/>
            <a:gdLst>
              <a:gd name="connsiteX0" fmla="*/ 1335670 w 3886198"/>
              <a:gd name="connsiteY0" fmla="*/ 1703420 h 2268181"/>
              <a:gd name="connsiteX1" fmla="*/ 1283924 w 3886198"/>
              <a:gd name="connsiteY1" fmla="*/ 1768172 h 2268181"/>
              <a:gd name="connsiteX2" fmla="*/ 1198045 w 3886198"/>
              <a:gd name="connsiteY2" fmla="*/ 1855478 h 2268181"/>
              <a:gd name="connsiteX3" fmla="*/ 1153967 w 3886198"/>
              <a:gd name="connsiteY3" fmla="*/ 1892347 h 2268181"/>
              <a:gd name="connsiteX4" fmla="*/ 1186178 w 3886198"/>
              <a:gd name="connsiteY4" fmla="*/ 1852912 h 2268181"/>
              <a:gd name="connsiteX5" fmla="*/ 2656034 w 3886198"/>
              <a:gd name="connsiteY5" fmla="*/ 1892350 h 2268181"/>
              <a:gd name="connsiteX6" fmla="*/ 2611954 w 3886198"/>
              <a:gd name="connsiteY6" fmla="*/ 1855478 h 2268181"/>
              <a:gd name="connsiteX7" fmla="*/ 2526074 w 3886198"/>
              <a:gd name="connsiteY7" fmla="*/ 1768172 h 2268181"/>
              <a:gd name="connsiteX8" fmla="*/ 2474323 w 3886198"/>
              <a:gd name="connsiteY8" fmla="*/ 1703415 h 2268181"/>
              <a:gd name="connsiteX9" fmla="*/ 2623821 w 3886198"/>
              <a:gd name="connsiteY9" fmla="*/ 1852912 h 2268181"/>
              <a:gd name="connsiteX10" fmla="*/ 3886198 w 3886198"/>
              <a:gd name="connsiteY10" fmla="*/ 4725 h 2268181"/>
              <a:gd name="connsiteX11" fmla="*/ 3886198 w 3886198"/>
              <a:gd name="connsiteY11" fmla="*/ 2263457 h 2268181"/>
              <a:gd name="connsiteX12" fmla="*/ 3763118 w 3886198"/>
              <a:gd name="connsiteY12" fmla="*/ 2268181 h 2268181"/>
              <a:gd name="connsiteX13" fmla="*/ 2708239 w 3886198"/>
              <a:gd name="connsiteY13" fmla="*/ 1936014 h 2268181"/>
              <a:gd name="connsiteX14" fmla="*/ 2656035 w 3886198"/>
              <a:gd name="connsiteY14" fmla="*/ 1892349 h 2268181"/>
              <a:gd name="connsiteX15" fmla="*/ 2623821 w 3886198"/>
              <a:gd name="connsiteY15" fmla="*/ 1852911 h 2268181"/>
              <a:gd name="connsiteX16" fmla="*/ 2474324 w 3886198"/>
              <a:gd name="connsiteY16" fmla="*/ 1703414 h 2268181"/>
              <a:gd name="connsiteX17" fmla="*/ 2117270 w 3886198"/>
              <a:gd name="connsiteY17" fmla="*/ 1346360 h 2268181"/>
              <a:gd name="connsiteX18" fmla="*/ 1692729 w 3886198"/>
              <a:gd name="connsiteY18" fmla="*/ 1346360 h 2268181"/>
              <a:gd name="connsiteX19" fmla="*/ 1335670 w 3886198"/>
              <a:gd name="connsiteY19" fmla="*/ 1703419 h 2268181"/>
              <a:gd name="connsiteX20" fmla="*/ 1186178 w 3886198"/>
              <a:gd name="connsiteY20" fmla="*/ 1852911 h 2268181"/>
              <a:gd name="connsiteX21" fmla="*/ 1153966 w 3886198"/>
              <a:gd name="connsiteY21" fmla="*/ 1892346 h 2268181"/>
              <a:gd name="connsiteX22" fmla="*/ 1101759 w 3886198"/>
              <a:gd name="connsiteY22" fmla="*/ 1936014 h 2268181"/>
              <a:gd name="connsiteX23" fmla="*/ 46880 w 3886198"/>
              <a:gd name="connsiteY23" fmla="*/ 2268181 h 2268181"/>
              <a:gd name="connsiteX24" fmla="*/ 0 w 3886198"/>
              <a:gd name="connsiteY24" fmla="*/ 2266382 h 2268181"/>
              <a:gd name="connsiteX25" fmla="*/ 0 w 3886198"/>
              <a:gd name="connsiteY25" fmla="*/ 1800 h 2268181"/>
              <a:gd name="connsiteX26" fmla="*/ 46880 w 3886198"/>
              <a:gd name="connsiteY26" fmla="*/ 0 h 2268181"/>
              <a:gd name="connsiteX27" fmla="*/ 1101759 w 3886198"/>
              <a:gd name="connsiteY27" fmla="*/ 332168 h 2268181"/>
              <a:gd name="connsiteX28" fmla="*/ 1153969 w 3886198"/>
              <a:gd name="connsiteY28" fmla="*/ 375838 h 2268181"/>
              <a:gd name="connsiteX29" fmla="*/ 1153972 w 3886198"/>
              <a:gd name="connsiteY29" fmla="*/ 375841 h 2268181"/>
              <a:gd name="connsiteX30" fmla="*/ 1198044 w 3886198"/>
              <a:gd name="connsiteY30" fmla="*/ 412705 h 2268181"/>
              <a:gd name="connsiteX31" fmla="*/ 1283924 w 3886198"/>
              <a:gd name="connsiteY31" fmla="*/ 500010 h 2268181"/>
              <a:gd name="connsiteX32" fmla="*/ 1335664 w 3886198"/>
              <a:gd name="connsiteY32" fmla="*/ 564754 h 2268181"/>
              <a:gd name="connsiteX33" fmla="*/ 1335667 w 3886198"/>
              <a:gd name="connsiteY33" fmla="*/ 564757 h 2268181"/>
              <a:gd name="connsiteX34" fmla="*/ 1692728 w 3886198"/>
              <a:gd name="connsiteY34" fmla="*/ 921819 h 2268181"/>
              <a:gd name="connsiteX35" fmla="*/ 2117269 w 3886198"/>
              <a:gd name="connsiteY35" fmla="*/ 921819 h 2268181"/>
              <a:gd name="connsiteX36" fmla="*/ 2474335 w 3886198"/>
              <a:gd name="connsiteY36" fmla="*/ 564753 h 2268181"/>
              <a:gd name="connsiteX37" fmla="*/ 2474338 w 3886198"/>
              <a:gd name="connsiteY37" fmla="*/ 564749 h 2268181"/>
              <a:gd name="connsiteX38" fmla="*/ 2526074 w 3886198"/>
              <a:gd name="connsiteY38" fmla="*/ 500010 h 2268181"/>
              <a:gd name="connsiteX39" fmla="*/ 2611954 w 3886198"/>
              <a:gd name="connsiteY39" fmla="*/ 412705 h 2268181"/>
              <a:gd name="connsiteX40" fmla="*/ 2656026 w 3886198"/>
              <a:gd name="connsiteY40" fmla="*/ 375842 h 2268181"/>
              <a:gd name="connsiteX41" fmla="*/ 2656028 w 3886198"/>
              <a:gd name="connsiteY41" fmla="*/ 375839 h 2268181"/>
              <a:gd name="connsiteX42" fmla="*/ 2708239 w 3886198"/>
              <a:gd name="connsiteY42" fmla="*/ 332168 h 2268181"/>
              <a:gd name="connsiteX43" fmla="*/ 3763118 w 3886198"/>
              <a:gd name="connsiteY43" fmla="*/ 0 h 2268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886198" h="2268181">
                <a:moveTo>
                  <a:pt x="1335670" y="1703420"/>
                </a:moveTo>
                <a:lnTo>
                  <a:pt x="1283924" y="1768172"/>
                </a:lnTo>
                <a:cubicBezTo>
                  <a:pt x="1257115" y="1798339"/>
                  <a:pt x="1228447" y="1827473"/>
                  <a:pt x="1198045" y="1855478"/>
                </a:cubicBezTo>
                <a:lnTo>
                  <a:pt x="1153967" y="1892347"/>
                </a:lnTo>
                <a:lnTo>
                  <a:pt x="1186178" y="1852912"/>
                </a:lnTo>
                <a:close/>
                <a:moveTo>
                  <a:pt x="2656034" y="1892350"/>
                </a:moveTo>
                <a:lnTo>
                  <a:pt x="2611954" y="1855478"/>
                </a:lnTo>
                <a:cubicBezTo>
                  <a:pt x="2581551" y="1827473"/>
                  <a:pt x="2552883" y="1798339"/>
                  <a:pt x="2526074" y="1768172"/>
                </a:cubicBezTo>
                <a:lnTo>
                  <a:pt x="2474323" y="1703415"/>
                </a:lnTo>
                <a:lnTo>
                  <a:pt x="2623821" y="1852912"/>
                </a:lnTo>
                <a:close/>
                <a:moveTo>
                  <a:pt x="3886198" y="4725"/>
                </a:moveTo>
                <a:lnTo>
                  <a:pt x="3886198" y="2263457"/>
                </a:lnTo>
                <a:lnTo>
                  <a:pt x="3763118" y="2268181"/>
                </a:lnTo>
                <a:cubicBezTo>
                  <a:pt x="3351162" y="2268181"/>
                  <a:pt x="2978206" y="2141244"/>
                  <a:pt x="2708239" y="1936014"/>
                </a:cubicBezTo>
                <a:lnTo>
                  <a:pt x="2656035" y="1892349"/>
                </a:lnTo>
                <a:lnTo>
                  <a:pt x="2623821" y="1852911"/>
                </a:lnTo>
                <a:lnTo>
                  <a:pt x="2474324" y="1703414"/>
                </a:lnTo>
                <a:lnTo>
                  <a:pt x="2117270" y="1346360"/>
                </a:lnTo>
                <a:cubicBezTo>
                  <a:pt x="2000036" y="1229126"/>
                  <a:pt x="1809963" y="1229126"/>
                  <a:pt x="1692729" y="1346360"/>
                </a:cubicBezTo>
                <a:lnTo>
                  <a:pt x="1335670" y="1703419"/>
                </a:lnTo>
                <a:lnTo>
                  <a:pt x="1186178" y="1852911"/>
                </a:lnTo>
                <a:lnTo>
                  <a:pt x="1153966" y="1892346"/>
                </a:lnTo>
                <a:lnTo>
                  <a:pt x="1101759" y="1936014"/>
                </a:lnTo>
                <a:cubicBezTo>
                  <a:pt x="831792" y="2141243"/>
                  <a:pt x="458836" y="2268181"/>
                  <a:pt x="46880" y="2268181"/>
                </a:cubicBezTo>
                <a:lnTo>
                  <a:pt x="0" y="2266382"/>
                </a:lnTo>
                <a:lnTo>
                  <a:pt x="0" y="1800"/>
                </a:lnTo>
                <a:lnTo>
                  <a:pt x="46880" y="0"/>
                </a:lnTo>
                <a:cubicBezTo>
                  <a:pt x="458836" y="0"/>
                  <a:pt x="831792" y="126937"/>
                  <a:pt x="1101759" y="332168"/>
                </a:cubicBezTo>
                <a:lnTo>
                  <a:pt x="1153969" y="375838"/>
                </a:lnTo>
                <a:lnTo>
                  <a:pt x="1153972" y="375841"/>
                </a:lnTo>
                <a:lnTo>
                  <a:pt x="1198044" y="412705"/>
                </a:lnTo>
                <a:cubicBezTo>
                  <a:pt x="1228447" y="440710"/>
                  <a:pt x="1257115" y="469844"/>
                  <a:pt x="1283924" y="500010"/>
                </a:cubicBezTo>
                <a:lnTo>
                  <a:pt x="1335664" y="564754"/>
                </a:lnTo>
                <a:lnTo>
                  <a:pt x="1335667" y="564757"/>
                </a:lnTo>
                <a:lnTo>
                  <a:pt x="1692728" y="921819"/>
                </a:lnTo>
                <a:cubicBezTo>
                  <a:pt x="1809962" y="1039053"/>
                  <a:pt x="2000035" y="1039053"/>
                  <a:pt x="2117269" y="921819"/>
                </a:cubicBezTo>
                <a:lnTo>
                  <a:pt x="2474335" y="564753"/>
                </a:lnTo>
                <a:lnTo>
                  <a:pt x="2474338" y="564749"/>
                </a:lnTo>
                <a:lnTo>
                  <a:pt x="2526074" y="500010"/>
                </a:lnTo>
                <a:cubicBezTo>
                  <a:pt x="2552883" y="469844"/>
                  <a:pt x="2581552" y="440710"/>
                  <a:pt x="2611954" y="412705"/>
                </a:cubicBezTo>
                <a:lnTo>
                  <a:pt x="2656026" y="375842"/>
                </a:lnTo>
                <a:lnTo>
                  <a:pt x="2656028" y="375839"/>
                </a:lnTo>
                <a:lnTo>
                  <a:pt x="2708239" y="332168"/>
                </a:lnTo>
                <a:cubicBezTo>
                  <a:pt x="2978206" y="126937"/>
                  <a:pt x="3351162" y="0"/>
                  <a:pt x="3763118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  <a:effectLst>
            <a:outerShdw blurRad="469900" dist="38100" algn="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24991E-1F14-4E34-9334-EBB96BB200AF}"/>
              </a:ext>
            </a:extLst>
          </p:cNvPr>
          <p:cNvSpPr/>
          <p:nvPr/>
        </p:nvSpPr>
        <p:spPr>
          <a:xfrm rot="16200000">
            <a:off x="1493152" y="1465677"/>
            <a:ext cx="1862442" cy="777233"/>
          </a:xfrm>
          <a:custGeom>
            <a:avLst/>
            <a:gdLst>
              <a:gd name="connsiteX0" fmla="*/ 2030407 w 2030407"/>
              <a:gd name="connsiteY0" fmla="*/ 6917 h 847328"/>
              <a:gd name="connsiteX1" fmla="*/ 2030407 w 2030407"/>
              <a:gd name="connsiteY1" fmla="*/ 274251 h 847328"/>
              <a:gd name="connsiteX2" fmla="*/ 1979685 w 2030407"/>
              <a:gd name="connsiteY2" fmla="*/ 270787 h 847328"/>
              <a:gd name="connsiteX3" fmla="*/ 430253 w 2030407"/>
              <a:gd name="connsiteY3" fmla="*/ 608813 h 847328"/>
              <a:gd name="connsiteX4" fmla="*/ 178422 w 2030407"/>
              <a:gd name="connsiteY4" fmla="*/ 738096 h 847328"/>
              <a:gd name="connsiteX5" fmla="*/ 0 w 2030407"/>
              <a:gd name="connsiteY5" fmla="*/ 847328 h 847328"/>
              <a:gd name="connsiteX6" fmla="*/ 20098 w 2030407"/>
              <a:gd name="connsiteY6" fmla="*/ 826666 h 847328"/>
              <a:gd name="connsiteX7" fmla="*/ 20103 w 2030407"/>
              <a:gd name="connsiteY7" fmla="*/ 826660 h 847328"/>
              <a:gd name="connsiteX8" fmla="*/ 93768 w 2030407"/>
              <a:gd name="connsiteY8" fmla="*/ 731897 h 847328"/>
              <a:gd name="connsiteX9" fmla="*/ 216050 w 2030407"/>
              <a:gd name="connsiteY9" fmla="*/ 604103 h 847328"/>
              <a:gd name="connsiteX10" fmla="*/ 278803 w 2030407"/>
              <a:gd name="connsiteY10" fmla="*/ 550144 h 847328"/>
              <a:gd name="connsiteX11" fmla="*/ 278806 w 2030407"/>
              <a:gd name="connsiteY11" fmla="*/ 550140 h 847328"/>
              <a:gd name="connsiteX12" fmla="*/ 353147 w 2030407"/>
              <a:gd name="connsiteY12" fmla="*/ 486216 h 847328"/>
              <a:gd name="connsiteX13" fmla="*/ 1855157 w 2030407"/>
              <a:gd name="connsiteY13" fmla="*/ 0 h 84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30407" h="847328">
                <a:moveTo>
                  <a:pt x="2030407" y="6917"/>
                </a:moveTo>
                <a:lnTo>
                  <a:pt x="2030407" y="274251"/>
                </a:lnTo>
                <a:lnTo>
                  <a:pt x="1979685" y="270787"/>
                </a:lnTo>
                <a:cubicBezTo>
                  <a:pt x="1486242" y="257768"/>
                  <a:pt x="949421" y="366324"/>
                  <a:pt x="430253" y="608813"/>
                </a:cubicBezTo>
                <a:cubicBezTo>
                  <a:pt x="343725" y="649228"/>
                  <a:pt x="259736" y="692407"/>
                  <a:pt x="178422" y="738096"/>
                </a:cubicBezTo>
                <a:lnTo>
                  <a:pt x="0" y="847328"/>
                </a:lnTo>
                <a:lnTo>
                  <a:pt x="20098" y="826666"/>
                </a:lnTo>
                <a:lnTo>
                  <a:pt x="20103" y="826660"/>
                </a:lnTo>
                <a:lnTo>
                  <a:pt x="93768" y="731897"/>
                </a:lnTo>
                <a:cubicBezTo>
                  <a:pt x="131940" y="687741"/>
                  <a:pt x="172761" y="645096"/>
                  <a:pt x="216050" y="604103"/>
                </a:cubicBezTo>
                <a:lnTo>
                  <a:pt x="278803" y="550144"/>
                </a:lnTo>
                <a:lnTo>
                  <a:pt x="278806" y="550140"/>
                </a:lnTo>
                <a:lnTo>
                  <a:pt x="353147" y="486216"/>
                </a:lnTo>
                <a:cubicBezTo>
                  <a:pt x="737545" y="185806"/>
                  <a:pt x="1268586" y="0"/>
                  <a:pt x="1855157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2DBC214-63DE-4941-97CA-281645E81B50}"/>
              </a:ext>
            </a:extLst>
          </p:cNvPr>
          <p:cNvSpPr/>
          <p:nvPr/>
        </p:nvSpPr>
        <p:spPr>
          <a:xfrm rot="5400000" flipV="1">
            <a:off x="1589709" y="4579942"/>
            <a:ext cx="1862442" cy="999933"/>
          </a:xfrm>
          <a:custGeom>
            <a:avLst/>
            <a:gdLst>
              <a:gd name="connsiteX0" fmla="*/ 2030407 w 2030407"/>
              <a:gd name="connsiteY0" fmla="*/ 6917 h 847328"/>
              <a:gd name="connsiteX1" fmla="*/ 2030407 w 2030407"/>
              <a:gd name="connsiteY1" fmla="*/ 274251 h 847328"/>
              <a:gd name="connsiteX2" fmla="*/ 1979685 w 2030407"/>
              <a:gd name="connsiteY2" fmla="*/ 270787 h 847328"/>
              <a:gd name="connsiteX3" fmla="*/ 430253 w 2030407"/>
              <a:gd name="connsiteY3" fmla="*/ 608813 h 847328"/>
              <a:gd name="connsiteX4" fmla="*/ 178422 w 2030407"/>
              <a:gd name="connsiteY4" fmla="*/ 738096 h 847328"/>
              <a:gd name="connsiteX5" fmla="*/ 0 w 2030407"/>
              <a:gd name="connsiteY5" fmla="*/ 847328 h 847328"/>
              <a:gd name="connsiteX6" fmla="*/ 20098 w 2030407"/>
              <a:gd name="connsiteY6" fmla="*/ 826666 h 847328"/>
              <a:gd name="connsiteX7" fmla="*/ 20103 w 2030407"/>
              <a:gd name="connsiteY7" fmla="*/ 826660 h 847328"/>
              <a:gd name="connsiteX8" fmla="*/ 93768 w 2030407"/>
              <a:gd name="connsiteY8" fmla="*/ 731897 h 847328"/>
              <a:gd name="connsiteX9" fmla="*/ 216050 w 2030407"/>
              <a:gd name="connsiteY9" fmla="*/ 604103 h 847328"/>
              <a:gd name="connsiteX10" fmla="*/ 278803 w 2030407"/>
              <a:gd name="connsiteY10" fmla="*/ 550144 h 847328"/>
              <a:gd name="connsiteX11" fmla="*/ 278806 w 2030407"/>
              <a:gd name="connsiteY11" fmla="*/ 550140 h 847328"/>
              <a:gd name="connsiteX12" fmla="*/ 353147 w 2030407"/>
              <a:gd name="connsiteY12" fmla="*/ 486216 h 847328"/>
              <a:gd name="connsiteX13" fmla="*/ 1855157 w 2030407"/>
              <a:gd name="connsiteY13" fmla="*/ 0 h 84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30407" h="847328">
                <a:moveTo>
                  <a:pt x="2030407" y="6917"/>
                </a:moveTo>
                <a:lnTo>
                  <a:pt x="2030407" y="274251"/>
                </a:lnTo>
                <a:lnTo>
                  <a:pt x="1979685" y="270787"/>
                </a:lnTo>
                <a:cubicBezTo>
                  <a:pt x="1486242" y="257768"/>
                  <a:pt x="949421" y="366324"/>
                  <a:pt x="430253" y="608813"/>
                </a:cubicBezTo>
                <a:cubicBezTo>
                  <a:pt x="343725" y="649228"/>
                  <a:pt x="259736" y="692407"/>
                  <a:pt x="178422" y="738096"/>
                </a:cubicBezTo>
                <a:lnTo>
                  <a:pt x="0" y="847328"/>
                </a:lnTo>
                <a:lnTo>
                  <a:pt x="20098" y="826666"/>
                </a:lnTo>
                <a:lnTo>
                  <a:pt x="20103" y="826660"/>
                </a:lnTo>
                <a:lnTo>
                  <a:pt x="93768" y="731897"/>
                </a:lnTo>
                <a:cubicBezTo>
                  <a:pt x="131940" y="687741"/>
                  <a:pt x="172761" y="645096"/>
                  <a:pt x="216050" y="604103"/>
                </a:cubicBezTo>
                <a:lnTo>
                  <a:pt x="278803" y="550144"/>
                </a:lnTo>
                <a:lnTo>
                  <a:pt x="278806" y="550140"/>
                </a:lnTo>
                <a:lnTo>
                  <a:pt x="353147" y="486216"/>
                </a:lnTo>
                <a:cubicBezTo>
                  <a:pt x="737545" y="185806"/>
                  <a:pt x="1268586" y="0"/>
                  <a:pt x="1855157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03FDF2F-E5DD-44E4-8015-E982E1B8E4F7}"/>
              </a:ext>
            </a:extLst>
          </p:cNvPr>
          <p:cNvSpPr/>
          <p:nvPr/>
        </p:nvSpPr>
        <p:spPr>
          <a:xfrm>
            <a:off x="1664184" y="774907"/>
            <a:ext cx="3451133" cy="1826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5000">
                <a:schemeClr val="tx1">
                  <a:lumMod val="65000"/>
                  <a:lumOff val="35000"/>
                </a:schemeClr>
              </a:gs>
              <a:gs pos="89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F95BF8B-E5F5-4ABD-89EC-8DBC1DE6BC2B}"/>
              </a:ext>
            </a:extLst>
          </p:cNvPr>
          <p:cNvSpPr/>
          <p:nvPr/>
        </p:nvSpPr>
        <p:spPr>
          <a:xfrm>
            <a:off x="1664184" y="6004945"/>
            <a:ext cx="3451133" cy="1826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5000">
                <a:schemeClr val="tx1">
                  <a:lumMod val="65000"/>
                  <a:lumOff val="35000"/>
                </a:schemeClr>
              </a:gs>
              <a:gs pos="89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435592-14E4-43A2-AD28-1CFB4A77BB27}"/>
              </a:ext>
            </a:extLst>
          </p:cNvPr>
          <p:cNvSpPr/>
          <p:nvPr/>
        </p:nvSpPr>
        <p:spPr>
          <a:xfrm>
            <a:off x="8582025" y="987669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01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F5F4AD-6AD3-49F8-9210-79436D69A70F}"/>
              </a:ext>
            </a:extLst>
          </p:cNvPr>
          <p:cNvSpPr/>
          <p:nvPr/>
        </p:nvSpPr>
        <p:spPr>
          <a:xfrm>
            <a:off x="8229600" y="2004041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02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C4A63D7-8983-46B3-8B4A-5F68304AF3F5}"/>
              </a:ext>
            </a:extLst>
          </p:cNvPr>
          <p:cNvSpPr/>
          <p:nvPr/>
        </p:nvSpPr>
        <p:spPr>
          <a:xfrm>
            <a:off x="7877175" y="3020417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03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E5987D4-BA62-4E43-842A-E32DE5F086E6}"/>
              </a:ext>
            </a:extLst>
          </p:cNvPr>
          <p:cNvSpPr/>
          <p:nvPr/>
        </p:nvSpPr>
        <p:spPr>
          <a:xfrm>
            <a:off x="7515907" y="4035530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04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49E49B-DF93-4B3A-AD0B-5EC58358975F}"/>
              </a:ext>
            </a:extLst>
          </p:cNvPr>
          <p:cNvSpPr/>
          <p:nvPr/>
        </p:nvSpPr>
        <p:spPr>
          <a:xfrm>
            <a:off x="7171482" y="5053168"/>
            <a:ext cx="899555" cy="89955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05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A7A0B6-76A8-40EB-A5C3-8F07261DC7EA}"/>
              </a:ext>
            </a:extLst>
          </p:cNvPr>
          <p:cNvSpPr txBox="1"/>
          <p:nvPr/>
        </p:nvSpPr>
        <p:spPr>
          <a:xfrm>
            <a:off x="3400926" y="2968193"/>
            <a:ext cx="4325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helps enhance information credibility and reduces the spread of false or misleading content.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D8A558-15EF-4E34-BD78-D6EF168B298F}"/>
              </a:ext>
            </a:extLst>
          </p:cNvPr>
          <p:cNvSpPr txBox="1"/>
          <p:nvPr/>
        </p:nvSpPr>
        <p:spPr>
          <a:xfrm>
            <a:off x="3345551" y="4010767"/>
            <a:ext cx="4314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promotes digital literacy by enabling users to critically evaluate news and online information.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B128C9-B127-43AD-8EEB-B891327F7DA7}"/>
              </a:ext>
            </a:extLst>
          </p:cNvPr>
          <p:cNvSpPr txBox="1"/>
          <p:nvPr/>
        </p:nvSpPr>
        <p:spPr>
          <a:xfrm>
            <a:off x="2744442" y="5016895"/>
            <a:ext cx="4643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provides practical, hands-on experience with modern AI technologies applied to large-scale, real-world challenges.</a:t>
            </a:r>
            <a:endParaRPr lang="en-IN" sz="1200" dirty="0">
              <a:solidFill>
                <a:schemeClr val="bg1"/>
              </a:solidFill>
              <a:latin typeface="Economica" panose="02000506040000020004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41606C-EE59-4012-8B62-19155755477F}"/>
              </a:ext>
            </a:extLst>
          </p:cNvPr>
          <p:cNvSpPr txBox="1"/>
          <p:nvPr/>
        </p:nvSpPr>
        <p:spPr>
          <a:xfrm>
            <a:off x="4684372" y="272246"/>
            <a:ext cx="6467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Conclusion</a:t>
            </a:r>
            <a:endParaRPr lang="en-IN" sz="3200" b="1" spc="3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B1863-9070-6F89-6D15-26AE7E96FDDD}"/>
              </a:ext>
            </a:extLst>
          </p:cNvPr>
          <p:cNvSpPr txBox="1"/>
          <p:nvPr/>
        </p:nvSpPr>
        <p:spPr>
          <a:xfrm>
            <a:off x="2816823" y="2029980"/>
            <a:ext cx="5494087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/>
              <a:t>It effectively combines NLP, deep learning models, and trusted fact-checking sources to improve accuracy and reliability.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0B8DB73-78BC-84FC-2BF4-20788198D20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7569" y="988114"/>
            <a:ext cx="64860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Fake News Detection &amp; Verification Tool offers an end-to-end AI-based solution for identifying and verifying misinformation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0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2CA11C-B127-320A-BE46-3FEE1515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10" y="538679"/>
            <a:ext cx="6102610" cy="3094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D2675E-96A1-9EF0-19A4-A90233D16E22}"/>
              </a:ext>
            </a:extLst>
          </p:cNvPr>
          <p:cNvSpPr txBox="1"/>
          <p:nvPr/>
        </p:nvSpPr>
        <p:spPr>
          <a:xfrm>
            <a:off x="2223018" y="3672827"/>
            <a:ext cx="13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Login page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88539-7F61-A26C-92C4-D3283A39725E}"/>
              </a:ext>
            </a:extLst>
          </p:cNvPr>
          <p:cNvSpPr txBox="1"/>
          <p:nvPr/>
        </p:nvSpPr>
        <p:spPr>
          <a:xfrm>
            <a:off x="5505061" y="146020"/>
            <a:ext cx="214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Sample Outputs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7953A-4B8C-4523-FECC-8B85FFE1E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58" y="3857493"/>
            <a:ext cx="6188142" cy="3000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E1BD0-A504-56C0-DF81-357E3C130937}"/>
              </a:ext>
            </a:extLst>
          </p:cNvPr>
          <p:cNvSpPr txBox="1"/>
          <p:nvPr/>
        </p:nvSpPr>
        <p:spPr>
          <a:xfrm>
            <a:off x="5943580" y="6342648"/>
            <a:ext cx="126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Home page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4149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82F1B-5773-D9E2-B998-4EBBC8CF9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12553" cy="2967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76E935-97FE-B4D6-A8BD-596C9179A3F4}"/>
              </a:ext>
            </a:extLst>
          </p:cNvPr>
          <p:cNvSpPr txBox="1"/>
          <p:nvPr/>
        </p:nvSpPr>
        <p:spPr>
          <a:xfrm>
            <a:off x="2006081" y="3059668"/>
            <a:ext cx="196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 Dashboard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51ABD-C1C0-09BC-F2D9-080994B4B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44334"/>
            <a:ext cx="6079448" cy="2918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FAC129-AC33-0301-85B3-7C6B8D8E6681}"/>
              </a:ext>
            </a:extLst>
          </p:cNvPr>
          <p:cNvSpPr txBox="1"/>
          <p:nvPr/>
        </p:nvSpPr>
        <p:spPr>
          <a:xfrm>
            <a:off x="8574832" y="6307494"/>
            <a:ext cx="229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Management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52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D11D5-9921-6BAF-0794-D54B26481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16" y="369332"/>
            <a:ext cx="8665076" cy="4142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A02239-0A31-3C01-EDB9-5C30C5DBE7BC}"/>
              </a:ext>
            </a:extLst>
          </p:cNvPr>
          <p:cNvSpPr txBox="1"/>
          <p:nvPr/>
        </p:nvSpPr>
        <p:spPr>
          <a:xfrm>
            <a:off x="4738396" y="4758612"/>
            <a:ext cx="224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7756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524</TotalTime>
  <Words>946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Akrobat ExtraLight</vt:lpstr>
      <vt:lpstr>Arca Majora 3 Bold</vt:lpstr>
      <vt:lpstr>Arial</vt:lpstr>
      <vt:lpstr>Bavro</vt:lpstr>
      <vt:lpstr>Bebas Neue Bold</vt:lpstr>
      <vt:lpstr>Calibri</vt:lpstr>
      <vt:lpstr>Calibri Light</vt:lpstr>
      <vt:lpstr>Economica</vt:lpstr>
      <vt:lpstr>Eurostile BQ</vt:lpstr>
      <vt:lpstr>Open Sans</vt:lpstr>
      <vt:lpstr>Open Sans Condensed Light</vt:lpstr>
      <vt:lpstr>Titillium Web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Etlii</dc:creator>
  <cp:lastModifiedBy>Rohit Kotare</cp:lastModifiedBy>
  <cp:revision>77</cp:revision>
  <dcterms:created xsi:type="dcterms:W3CDTF">2021-12-19T15:15:22Z</dcterms:created>
  <dcterms:modified xsi:type="dcterms:W3CDTF">2026-02-15T14:03:40Z</dcterms:modified>
</cp:coreProperties>
</file>